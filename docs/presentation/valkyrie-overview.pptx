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731520" y="2468880"/>
            <a:ext cx="548640" cy="73152"/>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7315200" cy="457200"/>
          </a:xfrm>
          <a:prstGeom prst="rect">
            <a:avLst/>
          </a:prstGeom>
          <a:noFill/>
        </p:spPr>
        <p:txBody>
          <a:bodyPr wrap="square" anchor="t" lIns="0" rIns="0" tIns="0" bIns="0">
            <a:spAutoFit/>
          </a:bodyPr>
          <a:lstStyle/>
          <a:p>
            <a:pPr algn="l"/>
            <a:r>
              <a:rPr sz="1400" b="1" i="0">
                <a:solidFill>
                  <a:srgbClr val="22D3EE"/>
                </a:solidFill>
                <a:latin typeface="Helvetica Neue"/>
              </a:rPr>
              <a:t>VALKYRIE</a:t>
            </a:r>
          </a:p>
        </p:txBody>
      </p:sp>
      <p:sp>
        <p:nvSpPr>
          <p:cNvPr id="4" name="TextBox 3"/>
          <p:cNvSpPr txBox="1"/>
          <p:nvPr/>
        </p:nvSpPr>
        <p:spPr>
          <a:xfrm>
            <a:off x="731520" y="2606040"/>
            <a:ext cx="10972800" cy="1188720"/>
          </a:xfrm>
          <a:prstGeom prst="rect">
            <a:avLst/>
          </a:prstGeom>
          <a:noFill/>
        </p:spPr>
        <p:txBody>
          <a:bodyPr wrap="square" anchor="t" lIns="0" rIns="0" tIns="0" bIns="0">
            <a:spAutoFit/>
          </a:bodyPr>
          <a:lstStyle/>
          <a:p>
            <a:pPr algn="l"/>
            <a:r>
              <a:rPr sz="5400" b="1" i="0">
                <a:solidFill>
                  <a:srgbClr val="FFFFFF"/>
                </a:solidFill>
                <a:latin typeface="Helvetica Neue"/>
              </a:rPr>
              <a:t>Disciplined Agentic Engineering</a:t>
            </a:r>
          </a:p>
        </p:txBody>
      </p:sp>
      <p:sp>
        <p:nvSpPr>
          <p:cNvPr id="5" name="TextBox 4"/>
          <p:cNvSpPr txBox="1"/>
          <p:nvPr/>
        </p:nvSpPr>
        <p:spPr>
          <a:xfrm>
            <a:off x="731520" y="3703320"/>
            <a:ext cx="10972800" cy="731520"/>
          </a:xfrm>
          <a:prstGeom prst="rect">
            <a:avLst/>
          </a:prstGeom>
          <a:noFill/>
        </p:spPr>
        <p:txBody>
          <a:bodyPr wrap="square" anchor="t" lIns="0" rIns="0" tIns="0" bIns="0">
            <a:spAutoFit/>
          </a:bodyPr>
          <a:lstStyle/>
          <a:p>
            <a:pPr algn="l"/>
            <a:r>
              <a:rPr sz="2800" b="0" i="0">
                <a:solidFill>
                  <a:srgbClr val="B8B8C8"/>
                </a:solidFill>
                <a:latin typeface="Helvetica Neue"/>
              </a:rPr>
              <a:t>on Claude Code — built on Matt Pocock's skills.</a:t>
            </a:r>
          </a:p>
        </p:txBody>
      </p:sp>
      <p:sp>
        <p:nvSpPr>
          <p:cNvPr id="6" name="TextBox 5"/>
          <p:cNvSpPr txBox="1"/>
          <p:nvPr/>
        </p:nvSpPr>
        <p:spPr>
          <a:xfrm>
            <a:off x="731520" y="4937760"/>
            <a:ext cx="10972800" cy="548640"/>
          </a:xfrm>
          <a:prstGeom prst="rect">
            <a:avLst/>
          </a:prstGeom>
          <a:noFill/>
        </p:spPr>
        <p:txBody>
          <a:bodyPr wrap="square" anchor="t" lIns="0" rIns="0" tIns="0" bIns="0">
            <a:spAutoFit/>
          </a:bodyPr>
          <a:lstStyle/>
          <a:p>
            <a:pPr algn="l"/>
            <a:r>
              <a:rPr sz="1800" b="0" i="1">
                <a:solidFill>
                  <a:srgbClr val="6A6A80"/>
                </a:solidFill>
                <a:latin typeface="Helvetica Neue"/>
              </a:rPr>
              <a:t>Why the workflow is the product, not the model.</a:t>
            </a:r>
          </a:p>
        </p:txBody>
      </p:sp>
      <p:sp>
        <p:nvSpPr>
          <p:cNvPr id="7" name="TextBox 6"/>
          <p:cNvSpPr txBox="1"/>
          <p:nvPr/>
        </p:nvSpPr>
        <p:spPr>
          <a:xfrm>
            <a:off x="731520" y="6126480"/>
            <a:ext cx="10972800" cy="274320"/>
          </a:xfrm>
          <a:prstGeom prst="rect">
            <a:avLst/>
          </a:prstGeom>
          <a:noFill/>
        </p:spPr>
        <p:txBody>
          <a:bodyPr wrap="square" anchor="t" lIns="0" rIns="0" tIns="0" bIns="0">
            <a:spAutoFit/>
          </a:bodyPr>
          <a:lstStyle/>
          <a:p>
            <a:pPr algn="l"/>
            <a:r>
              <a:rPr sz="1100" b="0" i="0">
                <a:solidFill>
                  <a:srgbClr val="0E7490"/>
                </a:solidFill>
                <a:latin typeface="Helvetica Neue"/>
              </a:rPr>
              <a:t>github.com/BunnyDAO/Valkyrie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THE PROBLEM</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Raw Claude Code is fast and structureless.</a:t>
            </a:r>
          </a:p>
        </p:txBody>
      </p:sp>
      <p:sp>
        <p:nvSpPr>
          <p:cNvPr id="5" name="TextBox 4"/>
          <p:cNvSpPr txBox="1"/>
          <p:nvPr/>
        </p:nvSpPr>
        <p:spPr>
          <a:xfrm>
            <a:off x="640080" y="1554480"/>
            <a:ext cx="10972800" cy="4572000"/>
          </a:xfrm>
          <a:prstGeom prst="rect">
            <a:avLst/>
          </a:prstGeom>
          <a:noFill/>
        </p:spPr>
        <p:txBody>
          <a:bodyPr wrap="square" lIns="0" rIns="0" tIns="0" bIns="0">
            <a:spAutoFit/>
          </a:bodyPr>
          <a:lstStyle/>
          <a:p>
            <a:pPr algn="l">
              <a:lnSpc>
                <a:spcPct val="140000"/>
              </a:lnSpc>
            </a:pPr>
            <a:r>
              <a:rPr sz="2000" b="1">
                <a:solidFill>
                  <a:srgbClr val="22D3EE"/>
                </a:solidFill>
                <a:latin typeface="Helvetica Neue"/>
              </a:rPr>
              <a:t> ▸ </a:t>
            </a:r>
            <a:r>
              <a:rPr sz="2000">
                <a:solidFill>
                  <a:srgbClr val="B8B8C8"/>
                </a:solidFill>
                <a:latin typeface="Helvetica Neue"/>
              </a:rPr>
              <a:t>The model decides when to write code — usually too early.</a:t>
            </a:r>
          </a:p>
          <a:p>
            <a:pPr algn="l">
              <a:lnSpc>
                <a:spcPct val="140000"/>
              </a:lnSpc>
            </a:pPr>
            <a:r>
              <a:rPr sz="2000" b="1">
                <a:solidFill>
                  <a:srgbClr val="22D3EE"/>
                </a:solidFill>
                <a:latin typeface="Helvetica Neue"/>
              </a:rPr>
              <a:t> ▸ </a:t>
            </a:r>
            <a:r>
              <a:rPr sz="2000">
                <a:solidFill>
                  <a:srgbClr val="B8B8C8"/>
                </a:solidFill>
                <a:latin typeface="Helvetica Neue"/>
              </a:rPr>
              <a:t>Long sessions drift: context shrinks, the early decisions get forgotten.</a:t>
            </a:r>
          </a:p>
          <a:p>
            <a:pPr algn="l">
              <a:lnSpc>
                <a:spcPct val="140000"/>
              </a:lnSpc>
            </a:pPr>
            <a:r>
              <a:rPr sz="2000" b="1">
                <a:solidFill>
                  <a:srgbClr val="22D3EE"/>
                </a:solidFill>
                <a:latin typeface="Helvetica Neue"/>
              </a:rPr>
              <a:t> ▸ </a:t>
            </a:r>
            <a:r>
              <a:rPr sz="2000">
                <a:solidFill>
                  <a:srgbClr val="B8B8C8"/>
                </a:solidFill>
                <a:latin typeface="Helvetica Neue"/>
              </a:rPr>
              <a:t>Context-limit handoff resets the orchestrator and the human-in-the-loop gates with it.</a:t>
            </a:r>
          </a:p>
          <a:p>
            <a:pPr algn="l">
              <a:lnSpc>
                <a:spcPct val="140000"/>
              </a:lnSpc>
            </a:pPr>
            <a:r>
              <a:rPr sz="2000" b="1">
                <a:solidFill>
                  <a:srgbClr val="22D3EE"/>
                </a:solidFill>
                <a:latin typeface="Helvetica Neue"/>
              </a:rPr>
              <a:t> ▸ </a:t>
            </a:r>
            <a:r>
              <a:rPr sz="2000">
                <a:solidFill>
                  <a:srgbClr val="B8B8C8"/>
                </a:solidFill>
                <a:latin typeface="Helvetica Neue"/>
              </a:rPr>
              <a:t>Each answer is a wall of prose; you have to mine the next decision out of it by hand.</a:t>
            </a:r>
          </a:p>
          <a:p>
            <a:pPr algn="l">
              <a:lnSpc>
                <a:spcPct val="140000"/>
              </a:lnSpc>
            </a:pPr>
            <a:r>
              <a:rPr sz="2000" b="1">
                <a:solidFill>
                  <a:srgbClr val="22D3EE"/>
                </a:solidFill>
                <a:latin typeface="Helvetica Neue"/>
              </a:rPr>
              <a:t> ▸ </a:t>
            </a:r>
            <a:r>
              <a:rPr sz="2000">
                <a:solidFill>
                  <a:srgbClr val="B8B8C8"/>
                </a:solidFill>
                <a:latin typeface="Helvetica Neue"/>
              </a:rPr>
              <a:t>Nothing enforces "design before code," "PRD before issues," or "approval before commit."</a:t>
            </a:r>
          </a:p>
          <a:p>
            <a:pPr algn="l">
              <a:lnSpc>
                <a:spcPct val="140000"/>
              </a:lnSpc>
            </a:pPr>
            <a:r>
              <a:rPr sz="2000" b="1">
                <a:solidFill>
                  <a:srgbClr val="22D3EE"/>
                </a:solidFill>
                <a:latin typeface="Helvetica Neue"/>
              </a:rPr>
              <a:t> ▸ </a:t>
            </a:r>
            <a:r>
              <a:rPr sz="2000">
                <a:solidFill>
                  <a:srgbClr val="B8B8C8"/>
                </a:solidFill>
                <a:latin typeface="Helvetica Neue"/>
              </a:rPr>
              <a:t>Cost ladders up the wrong way: opus burned on chat, sonnet asked to write tests it doesn't understand.</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The problem Valkyrie was built to fix.</a:t>
            </a:r>
          </a:p>
        </p:txBody>
      </p:sp>
      <p:sp>
        <p:nvSpPr>
          <p:cNvPr id="7" name="TextBox 6"/>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2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THE BASE LAYER</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Matt Pocock's `skills` repo — the foundation.</a:t>
            </a:r>
          </a:p>
        </p:txBody>
      </p:sp>
      <p:sp>
        <p:nvSpPr>
          <p:cNvPr id="5" name="TextBox 4"/>
          <p:cNvSpPr txBox="1"/>
          <p:nvPr/>
        </p:nvSpPr>
        <p:spPr>
          <a:xfrm>
            <a:off x="640080" y="1508760"/>
            <a:ext cx="10972800" cy="457200"/>
          </a:xfrm>
          <a:prstGeom prst="rect">
            <a:avLst/>
          </a:prstGeom>
          <a:noFill/>
        </p:spPr>
        <p:txBody>
          <a:bodyPr wrap="square" anchor="t" lIns="0" rIns="0" tIns="0" bIns="0">
            <a:spAutoFit/>
          </a:bodyPr>
          <a:lstStyle/>
          <a:p>
            <a:pPr algn="l"/>
            <a:r>
              <a:rPr sz="1800" b="0" i="1">
                <a:solidFill>
                  <a:srgbClr val="22D3EE"/>
                </a:solidFill>
                <a:latin typeface="Helvetica Neue"/>
              </a:rPr>
              <a:t>github.com/mattpocock/skills — open-source Claude Code skill prompts.</a:t>
            </a:r>
          </a:p>
        </p:txBody>
      </p:sp>
      <p:sp>
        <p:nvSpPr>
          <p:cNvPr id="6" name="TextBox 5"/>
          <p:cNvSpPr txBox="1"/>
          <p:nvPr/>
        </p:nvSpPr>
        <p:spPr>
          <a:xfrm>
            <a:off x="640080" y="2103120"/>
            <a:ext cx="10972800" cy="3840480"/>
          </a:xfrm>
          <a:prstGeom prst="rect">
            <a:avLst/>
          </a:prstGeom>
          <a:noFill/>
        </p:spPr>
        <p:txBody>
          <a:bodyPr wrap="square" lIns="0" rIns="0" tIns="0" bIns="0">
            <a:spAutoFit/>
          </a:bodyPr>
          <a:lstStyle/>
          <a:p>
            <a:pPr algn="l">
              <a:lnSpc>
                <a:spcPct val="145000"/>
              </a:lnSpc>
            </a:pPr>
            <a:r>
              <a:rPr sz="1800" b="1">
                <a:solidFill>
                  <a:srgbClr val="22D3EE"/>
                </a:solidFill>
                <a:latin typeface="Helvetica Neue"/>
              </a:rPr>
              <a:t> ▸ </a:t>
            </a:r>
            <a:r>
              <a:rPr sz="1800">
                <a:solidFill>
                  <a:srgbClr val="B8B8C8"/>
                </a:solidFill>
                <a:latin typeface="Helvetica Neue"/>
              </a:rPr>
              <a:t>Structured `SKILL.md` prompts that route a request through stages instead of jumping to code.</a:t>
            </a:r>
          </a:p>
          <a:p>
            <a:pPr algn="l">
              <a:lnSpc>
                <a:spcPct val="145000"/>
              </a:lnSpc>
            </a:pPr>
            <a:r>
              <a:rPr sz="1800" b="1">
                <a:solidFill>
                  <a:srgbClr val="22D3EE"/>
                </a:solidFill>
                <a:latin typeface="Helvetica Neue"/>
              </a:rPr>
              <a:t> ▸ </a:t>
            </a:r>
            <a:r>
              <a:rPr sz="1800">
                <a:solidFill>
                  <a:srgbClr val="B8B8C8"/>
                </a:solidFill>
                <a:latin typeface="Helvetica Neue"/>
              </a:rPr>
              <a:t>Each skill carries its own discipline: a grilling pattern, a PRD template, an issue-slicing rule.</a:t>
            </a:r>
          </a:p>
          <a:p>
            <a:pPr algn="l">
              <a:lnSpc>
                <a:spcPct val="145000"/>
              </a:lnSpc>
            </a:pPr>
            <a:r>
              <a:rPr sz="1800" b="1">
                <a:solidFill>
                  <a:srgbClr val="22D3EE"/>
                </a:solidFill>
                <a:latin typeface="Helvetica Neue"/>
              </a:rPr>
              <a:t> ▸ </a:t>
            </a:r>
            <a:r>
              <a:rPr sz="1800">
                <a:solidFill>
                  <a:srgbClr val="B8B8C8"/>
                </a:solidFill>
                <a:latin typeface="Helvetica Neue"/>
              </a:rPr>
              <a:t>Plus the "Ralph" pattern (aihero.dev): autonomous loops that re-spawn fresh CLI sessions per issue.</a:t>
            </a:r>
          </a:p>
          <a:p>
            <a:pPr algn="l">
              <a:lnSpc>
                <a:spcPct val="145000"/>
              </a:lnSpc>
            </a:pPr>
            <a:r>
              <a:rPr sz="1800" b="1">
                <a:solidFill>
                  <a:srgbClr val="22D3EE"/>
                </a:solidFill>
                <a:latin typeface="Helvetica Neue"/>
              </a:rPr>
              <a:t> ▸ </a:t>
            </a:r>
            <a:r>
              <a:rPr sz="1800">
                <a:solidFill>
                  <a:srgbClr val="B8B8C8"/>
                </a:solidFill>
                <a:latin typeface="Helvetica Neue"/>
              </a:rPr>
              <a:t>Pocock = the *content* of the workflow.  Valkyrie = the *enforcement, ergonomics, and observability around it*.</a:t>
            </a:r>
          </a:p>
        </p:txBody>
      </p:sp>
      <p:sp>
        <p:nvSpPr>
          <p:cNvPr id="7" name="TextBox 6"/>
          <p:cNvSpPr txBox="1"/>
          <p:nvPr/>
        </p:nvSpPr>
        <p:spPr>
          <a:xfrm>
            <a:off x="640080" y="5943600"/>
            <a:ext cx="10972800" cy="365760"/>
          </a:xfrm>
          <a:prstGeom prst="rect">
            <a:avLst/>
          </a:prstGeom>
          <a:noFill/>
        </p:spPr>
        <p:txBody>
          <a:bodyPr wrap="square" anchor="t" lIns="0" rIns="0" tIns="0" bIns="0">
            <a:spAutoFit/>
          </a:bodyPr>
          <a:lstStyle/>
          <a:p>
            <a:pPr algn="l"/>
            <a:r>
              <a:rPr sz="1200" b="0" i="1">
                <a:solidFill>
                  <a:srgbClr val="6A6A80"/>
                </a:solidFill>
                <a:latin typeface="Helvetica Neue"/>
              </a:rPr>
              <a:t>Six of our ten skills are direct adaptations of mattpocock/skills — credited in every SKILL.md header.</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The base layer we build on.</a:t>
            </a:r>
          </a:p>
        </p:txBody>
      </p:sp>
      <p:sp>
        <p:nvSpPr>
          <p:cNvPr id="9" name="TextBox 8"/>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3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STAGE 1 — POCOCK</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DESIGN  —  the grilling.</a:t>
            </a:r>
          </a:p>
        </p:txBody>
      </p:sp>
      <p:sp>
        <p:nvSpPr>
          <p:cNvPr id="5" name="Rounded Rectangle 4"/>
          <p:cNvSpPr/>
          <p:nvPr/>
        </p:nvSpPr>
        <p:spPr>
          <a:xfrm>
            <a:off x="640080" y="1737360"/>
            <a:ext cx="4023360" cy="36576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2800" b="1">
                <a:solidFill>
                  <a:srgbClr val="0A0A12"/>
                </a:solidFill>
                <a:latin typeface="Helvetica Neue"/>
              </a:rPr>
              <a:t>DESIGN
(grill-with-docs)</a:t>
            </a:r>
          </a:p>
        </p:txBody>
      </p:sp>
      <p:sp>
        <p:nvSpPr>
          <p:cNvPr id="6" name="TextBox 5"/>
          <p:cNvSpPr txBox="1"/>
          <p:nvPr/>
        </p:nvSpPr>
        <p:spPr>
          <a:xfrm>
            <a:off x="5120640" y="1828800"/>
            <a:ext cx="6766560" cy="4114800"/>
          </a:xfrm>
          <a:prstGeom prst="rect">
            <a:avLst/>
          </a:prstGeom>
          <a:noFill/>
        </p:spPr>
        <p:txBody>
          <a:bodyPr wrap="square" lIns="0" rIns="0" tIns="0" bIns="0">
            <a:spAutoFit/>
          </a:bodyPr>
          <a:lstStyle/>
          <a:p>
            <a:pPr algn="l">
              <a:lnSpc>
                <a:spcPct val="145000"/>
              </a:lnSpc>
            </a:pPr>
            <a:r>
              <a:rPr sz="1800" b="1">
                <a:solidFill>
                  <a:srgbClr val="22D3EE"/>
                </a:solidFill>
                <a:latin typeface="Helvetica Neue"/>
              </a:rPr>
              <a:t> ▸ </a:t>
            </a:r>
            <a:r>
              <a:rPr sz="1800">
                <a:solidFill>
                  <a:srgbClr val="B8B8C8"/>
                </a:solidFill>
                <a:latin typeface="Helvetica Neue"/>
              </a:rPr>
              <a:t>Interview-driven: one question at a time, no monologue.</a:t>
            </a:r>
          </a:p>
          <a:p>
            <a:pPr algn="l">
              <a:lnSpc>
                <a:spcPct val="145000"/>
              </a:lnSpc>
            </a:pPr>
            <a:r>
              <a:rPr sz="1800" b="1">
                <a:solidFill>
                  <a:srgbClr val="22D3EE"/>
                </a:solidFill>
                <a:latin typeface="Helvetica Neue"/>
              </a:rPr>
              <a:t> ▸ </a:t>
            </a:r>
            <a:r>
              <a:rPr sz="1800">
                <a:solidFill>
                  <a:srgbClr val="B8B8C8"/>
                </a:solidFill>
                <a:latin typeface="Helvetica Neue"/>
              </a:rPr>
              <a:t>Grills against scope, actors, failure modes, data model, boundaries, observability.</a:t>
            </a:r>
          </a:p>
          <a:p>
            <a:pPr algn="l">
              <a:lnSpc>
                <a:spcPct val="145000"/>
              </a:lnSpc>
            </a:pPr>
            <a:r>
              <a:rPr sz="1800" b="1">
                <a:solidFill>
                  <a:srgbClr val="22D3EE"/>
                </a:solidFill>
                <a:latin typeface="Helvetica Neue"/>
              </a:rPr>
              <a:t> ▸ </a:t>
            </a:r>
            <a:r>
              <a:rPr sz="1800">
                <a:solidFill>
                  <a:srgbClr val="B8B8C8"/>
                </a:solidFill>
                <a:latin typeface="Helvetica Neue"/>
              </a:rPr>
              <a:t>Codebase exploration delegated to single-task sub-agents — keeps the main thread lean.</a:t>
            </a:r>
          </a:p>
          <a:p>
            <a:pPr algn="l">
              <a:lnSpc>
                <a:spcPct val="145000"/>
              </a:lnSpc>
            </a:pPr>
            <a:r>
              <a:rPr sz="1800" b="1">
                <a:solidFill>
                  <a:srgbClr val="22D3EE"/>
                </a:solidFill>
                <a:latin typeface="Helvetica Neue"/>
              </a:rPr>
              <a:t> ▸ </a:t>
            </a:r>
            <a:r>
              <a:rPr sz="1800">
                <a:solidFill>
                  <a:srgbClr val="B8B8C8"/>
                </a:solidFill>
                <a:latin typeface="Helvetica Neue"/>
              </a:rPr>
              <a:t>Updates the glossary inline (`CONTEXT.md`) and writes ADRs only when the decision is load-bearing.</a:t>
            </a:r>
          </a:p>
          <a:p>
            <a:pPr algn="l">
              <a:lnSpc>
                <a:spcPct val="145000"/>
              </a:lnSpc>
            </a:pPr>
            <a:r>
              <a:rPr sz="1800" b="1">
                <a:solidFill>
                  <a:srgbClr val="22D3EE"/>
                </a:solidFill>
                <a:latin typeface="Helvetica Neue"/>
              </a:rPr>
              <a:t> ▸ </a:t>
            </a:r>
            <a:r>
              <a:rPr sz="1800">
                <a:solidFill>
                  <a:srgbClr val="B8B8C8"/>
                </a:solidFill>
                <a:latin typeface="Helvetica Neue"/>
              </a:rPr>
              <a:t>No production code at this stage — the TDD gate enforces it mechanically.</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DESIGN — front-loaded thinking, before any code can be written.</a:t>
            </a:r>
          </a:p>
        </p:txBody>
      </p:sp>
      <p:sp>
        <p:nvSpPr>
          <p:cNvPr id="8" name="TextBox 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4 /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STAGE 2 — POCOCK</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PRD  —  the contract.</a:t>
            </a:r>
          </a:p>
        </p:txBody>
      </p:sp>
      <p:sp>
        <p:nvSpPr>
          <p:cNvPr id="5" name="Rounded Rectangle 4"/>
          <p:cNvSpPr/>
          <p:nvPr/>
        </p:nvSpPr>
        <p:spPr>
          <a:xfrm>
            <a:off x="640080" y="1737360"/>
            <a:ext cx="4023360" cy="36576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2800" b="1">
                <a:solidFill>
                  <a:srgbClr val="0A0A12"/>
                </a:solidFill>
                <a:latin typeface="Helvetica Neue"/>
              </a:rPr>
              <a:t>PRD
(to-prd)</a:t>
            </a:r>
          </a:p>
        </p:txBody>
      </p:sp>
      <p:sp>
        <p:nvSpPr>
          <p:cNvPr id="6" name="TextBox 5"/>
          <p:cNvSpPr txBox="1"/>
          <p:nvPr/>
        </p:nvSpPr>
        <p:spPr>
          <a:xfrm>
            <a:off x="5120640" y="1828800"/>
            <a:ext cx="6766560" cy="4114800"/>
          </a:xfrm>
          <a:prstGeom prst="rect">
            <a:avLst/>
          </a:prstGeom>
          <a:noFill/>
        </p:spPr>
        <p:txBody>
          <a:bodyPr wrap="square" lIns="0" rIns="0" tIns="0" bIns="0">
            <a:spAutoFit/>
          </a:bodyPr>
          <a:lstStyle/>
          <a:p>
            <a:pPr algn="l">
              <a:lnSpc>
                <a:spcPct val="145000"/>
              </a:lnSpc>
            </a:pPr>
            <a:r>
              <a:rPr sz="1800" b="1">
                <a:solidFill>
                  <a:srgbClr val="22D3EE"/>
                </a:solidFill>
                <a:latin typeface="Helvetica Neue"/>
              </a:rPr>
              <a:t> ▸ </a:t>
            </a:r>
            <a:r>
              <a:rPr sz="1800">
                <a:solidFill>
                  <a:srgbClr val="B8B8C8"/>
                </a:solidFill>
                <a:latin typeface="Helvetica Neue"/>
              </a:rPr>
              <a:t>Synthesizes the grilling into one decision-ready document.</a:t>
            </a:r>
          </a:p>
          <a:p>
            <a:pPr algn="l">
              <a:lnSpc>
                <a:spcPct val="145000"/>
              </a:lnSpc>
            </a:pPr>
            <a:r>
              <a:rPr sz="1800" b="1">
                <a:solidFill>
                  <a:srgbClr val="22D3EE"/>
                </a:solidFill>
                <a:latin typeface="Helvetica Neue"/>
              </a:rPr>
              <a:t> ▸ </a:t>
            </a:r>
            <a:r>
              <a:rPr sz="1800">
                <a:solidFill>
                  <a:srgbClr val="B8B8C8"/>
                </a:solidFill>
                <a:latin typeface="Helvetica Neue"/>
              </a:rPr>
              <a:t>Implementation decisions, in-scope, out-of-scope, success criteria.</a:t>
            </a:r>
          </a:p>
          <a:p>
            <a:pPr algn="l">
              <a:lnSpc>
                <a:spcPct val="145000"/>
              </a:lnSpc>
            </a:pPr>
            <a:r>
              <a:rPr sz="1800" b="1">
                <a:solidFill>
                  <a:srgbClr val="22D3EE"/>
                </a:solidFill>
                <a:latin typeface="Helvetica Neue"/>
              </a:rPr>
              <a:t> ▸ </a:t>
            </a:r>
            <a:r>
              <a:rPr sz="1800">
                <a:solidFill>
                  <a:srgbClr val="B8B8C8"/>
                </a:solidFill>
                <a:latin typeface="Helvetica Neue"/>
              </a:rPr>
              <a:t>Every downstream issue and every line of TDD code inherits the PRD's errors.</a:t>
            </a:r>
          </a:p>
          <a:p>
            <a:pPr algn="l">
              <a:lnSpc>
                <a:spcPct val="145000"/>
              </a:lnSpc>
            </a:pPr>
            <a:r>
              <a:rPr sz="1800" b="1">
                <a:solidFill>
                  <a:srgbClr val="22D3EE"/>
                </a:solidFill>
                <a:latin typeface="Helvetica Neue"/>
              </a:rPr>
              <a:t> ▸ </a:t>
            </a:r>
            <a:r>
              <a:rPr sz="1800">
                <a:solidFill>
                  <a:srgbClr val="B8B8C8"/>
                </a:solidFill>
                <a:latin typeface="Helvetica Neue"/>
              </a:rPr>
              <a:t>Becomes the spec for the whole stack — short PRD, sharp consequences.</a:t>
            </a:r>
          </a:p>
          <a:p>
            <a:pPr algn="l">
              <a:lnSpc>
                <a:spcPct val="145000"/>
              </a:lnSpc>
            </a:pPr>
            <a:r>
              <a:rPr sz="1800" b="1">
                <a:solidFill>
                  <a:srgbClr val="22D3EE"/>
                </a:solidFill>
                <a:latin typeface="Helvetica Neue"/>
              </a:rPr>
              <a:t> ▸ </a:t>
            </a:r>
            <a:r>
              <a:rPr sz="1800">
                <a:solidFill>
                  <a:srgbClr val="B8B8C8"/>
                </a:solidFill>
                <a:latin typeface="Helvetica Neue"/>
              </a:rPr>
              <a:t>Followed immediately by the PRD-REVIEW gate (next slide).</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PRD — the single artifact every downstream stage references.</a:t>
            </a:r>
          </a:p>
        </p:txBody>
      </p:sp>
      <p:sp>
        <p:nvSpPr>
          <p:cNvPr id="8" name="TextBox 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STAGE 3 — POCOCK</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ISSUES  —  vertical slices.</a:t>
            </a:r>
          </a:p>
        </p:txBody>
      </p:sp>
      <p:sp>
        <p:nvSpPr>
          <p:cNvPr id="5" name="Rounded Rectangle 4"/>
          <p:cNvSpPr/>
          <p:nvPr/>
        </p:nvSpPr>
        <p:spPr>
          <a:xfrm>
            <a:off x="640080" y="1737360"/>
            <a:ext cx="4023360" cy="36576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2800" b="1">
                <a:solidFill>
                  <a:srgbClr val="0A0A12"/>
                </a:solidFill>
                <a:latin typeface="Helvetica Neue"/>
              </a:rPr>
              <a:t>ISSUES
(to-issues)</a:t>
            </a:r>
          </a:p>
        </p:txBody>
      </p:sp>
      <p:sp>
        <p:nvSpPr>
          <p:cNvPr id="6" name="TextBox 5"/>
          <p:cNvSpPr txBox="1"/>
          <p:nvPr/>
        </p:nvSpPr>
        <p:spPr>
          <a:xfrm>
            <a:off x="5120640" y="1828800"/>
            <a:ext cx="6766560" cy="4114800"/>
          </a:xfrm>
          <a:prstGeom prst="rect">
            <a:avLst/>
          </a:prstGeom>
          <a:noFill/>
        </p:spPr>
        <p:txBody>
          <a:bodyPr wrap="square" lIns="0" rIns="0" tIns="0" bIns="0">
            <a:spAutoFit/>
          </a:bodyPr>
          <a:lstStyle/>
          <a:p>
            <a:pPr algn="l">
              <a:lnSpc>
                <a:spcPct val="145000"/>
              </a:lnSpc>
            </a:pPr>
            <a:r>
              <a:rPr sz="1800" b="1">
                <a:solidFill>
                  <a:srgbClr val="22D3EE"/>
                </a:solidFill>
                <a:latin typeface="Helvetica Neue"/>
              </a:rPr>
              <a:t> ▸ </a:t>
            </a:r>
            <a:r>
              <a:rPr sz="1800">
                <a:solidFill>
                  <a:srgbClr val="B8B8C8"/>
                </a:solidFill>
                <a:latin typeface="Helvetica Neue"/>
              </a:rPr>
              <a:t>Breaks the PRD into independently-grabbable vertical slices.</a:t>
            </a:r>
          </a:p>
          <a:p>
            <a:pPr algn="l">
              <a:lnSpc>
                <a:spcPct val="145000"/>
              </a:lnSpc>
            </a:pPr>
            <a:r>
              <a:rPr sz="1800" b="1">
                <a:solidFill>
                  <a:srgbClr val="22D3EE"/>
                </a:solidFill>
                <a:latin typeface="Helvetica Neue"/>
              </a:rPr>
              <a:t> ▸ </a:t>
            </a:r>
            <a:r>
              <a:rPr sz="1800">
                <a:solidFill>
                  <a:srgbClr val="B8B8C8"/>
                </a:solidFill>
                <a:latin typeface="Helvetica Neue"/>
              </a:rPr>
              <a:t>Each slice is end-to-end testable on its own (a real PR, not a layer fragment).</a:t>
            </a:r>
          </a:p>
          <a:p>
            <a:pPr algn="l">
              <a:lnSpc>
                <a:spcPct val="145000"/>
              </a:lnSpc>
            </a:pPr>
            <a:r>
              <a:rPr sz="1800" b="1">
                <a:solidFill>
                  <a:srgbClr val="22D3EE"/>
                </a:solidFill>
                <a:latin typeface="Helvetica Neue"/>
              </a:rPr>
              <a:t> ▸ </a:t>
            </a:r>
            <a:r>
              <a:rPr sz="1800">
                <a:solidFill>
                  <a:srgbClr val="B8B8C8"/>
                </a:solidFill>
                <a:latin typeface="Helvetica Neue"/>
              </a:rPr>
              <a:t>Each slice is sized to fit an LLM's effective context — fresh session, no drift.</a:t>
            </a:r>
          </a:p>
          <a:p>
            <a:pPr algn="l">
              <a:lnSpc>
                <a:spcPct val="145000"/>
              </a:lnSpc>
            </a:pPr>
            <a:r>
              <a:rPr sz="1800" b="1">
                <a:solidFill>
                  <a:srgbClr val="22D3EE"/>
                </a:solidFill>
                <a:latin typeface="Helvetica Neue"/>
              </a:rPr>
              <a:t> ▸ </a:t>
            </a:r>
            <a:r>
              <a:rPr sz="1800">
                <a:solidFill>
                  <a:srgbClr val="B8B8C8"/>
                </a:solidFill>
                <a:latin typeface="Helvetica Neue"/>
              </a:rPr>
              <a:t>`blocked_by:` frontmatter encodes the dependency graph → parallel batches printed automatically.</a:t>
            </a:r>
          </a:p>
          <a:p>
            <a:pPr algn="l">
              <a:lnSpc>
                <a:spcPct val="145000"/>
              </a:lnSpc>
            </a:pPr>
            <a:r>
              <a:rPr sz="1800" b="1">
                <a:solidFill>
                  <a:srgbClr val="22D3EE"/>
                </a:solidFill>
                <a:latin typeface="Helvetica Neue"/>
              </a:rPr>
              <a:t> ▸ </a:t>
            </a:r>
            <a:r>
              <a:rPr sz="1800">
                <a:solidFill>
                  <a:srgbClr val="B8B8C8"/>
                </a:solidFill>
                <a:latin typeface="Helvetica Neue"/>
              </a:rPr>
              <a:t>Slices are reorderable; the PRD stays the contract regardless of which slice ships first.</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ISSUES — the slicing turns one project into many parallelizable units.</a:t>
            </a:r>
          </a:p>
        </p:txBody>
      </p:sp>
      <p:sp>
        <p:nvSpPr>
          <p:cNvPr id="8" name="TextBox 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STAGE 4 — POCOCK</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TDD  —  red, green, refactor.</a:t>
            </a:r>
          </a:p>
        </p:txBody>
      </p:sp>
      <p:sp>
        <p:nvSpPr>
          <p:cNvPr id="5" name="Rounded Rectangle 4"/>
          <p:cNvSpPr/>
          <p:nvPr/>
        </p:nvSpPr>
        <p:spPr>
          <a:xfrm>
            <a:off x="640080" y="1737360"/>
            <a:ext cx="4023360" cy="36576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2800" b="1">
                <a:solidFill>
                  <a:srgbClr val="0A0A12"/>
                </a:solidFill>
                <a:latin typeface="Helvetica Neue"/>
              </a:rPr>
              <a:t>TDD
(tdd)</a:t>
            </a:r>
          </a:p>
        </p:txBody>
      </p:sp>
      <p:sp>
        <p:nvSpPr>
          <p:cNvPr id="6" name="TextBox 5"/>
          <p:cNvSpPr txBox="1"/>
          <p:nvPr/>
        </p:nvSpPr>
        <p:spPr>
          <a:xfrm>
            <a:off x="5120640" y="1828800"/>
            <a:ext cx="6766560" cy="4114800"/>
          </a:xfrm>
          <a:prstGeom prst="rect">
            <a:avLst/>
          </a:prstGeom>
          <a:noFill/>
        </p:spPr>
        <p:txBody>
          <a:bodyPr wrap="square" lIns="0" rIns="0" tIns="0" bIns="0">
            <a:spAutoFit/>
          </a:bodyPr>
          <a:lstStyle/>
          <a:p>
            <a:pPr algn="l">
              <a:lnSpc>
                <a:spcPct val="145000"/>
              </a:lnSpc>
            </a:pPr>
            <a:r>
              <a:rPr sz="1800" b="1">
                <a:solidFill>
                  <a:srgbClr val="22D3EE"/>
                </a:solidFill>
                <a:latin typeface="Helvetica Neue"/>
              </a:rPr>
              <a:t> ▸ </a:t>
            </a:r>
            <a:r>
              <a:rPr sz="1800">
                <a:solidFill>
                  <a:srgbClr val="B8B8C8"/>
                </a:solidFill>
                <a:latin typeface="Helvetica Neue"/>
              </a:rPr>
              <a:t>Per slice: write the failing test first, make it pass, then refactor.</a:t>
            </a:r>
          </a:p>
          <a:p>
            <a:pPr algn="l">
              <a:lnSpc>
                <a:spcPct val="145000"/>
              </a:lnSpc>
            </a:pPr>
            <a:r>
              <a:rPr sz="1800" b="1">
                <a:solidFill>
                  <a:srgbClr val="22D3EE"/>
                </a:solidFill>
                <a:latin typeface="Helvetica Neue"/>
              </a:rPr>
              <a:t> ▸ </a:t>
            </a:r>
            <a:r>
              <a:rPr sz="1800">
                <a:solidFill>
                  <a:srgbClr val="B8B8C8"/>
                </a:solidFill>
                <a:latin typeface="Helvetica Neue"/>
              </a:rPr>
              <a:t>Production-code edits are *only* allowed at this stage (PreToolUse hook enforces).</a:t>
            </a:r>
          </a:p>
          <a:p>
            <a:pPr algn="l">
              <a:lnSpc>
                <a:spcPct val="145000"/>
              </a:lnSpc>
            </a:pPr>
            <a:r>
              <a:rPr sz="1800" b="1">
                <a:solidFill>
                  <a:srgbClr val="22D3EE"/>
                </a:solidFill>
                <a:latin typeface="Helvetica Neue"/>
              </a:rPr>
              <a:t> ▸ </a:t>
            </a:r>
            <a:r>
              <a:rPr sz="1800">
                <a:solidFill>
                  <a:srgbClr val="B8B8C8"/>
                </a:solidFill>
                <a:latin typeface="Helvetica Neue"/>
              </a:rPr>
              <a:t>Concurrency-safe commit recipe: explicit pathspecs, never `git add -A`.</a:t>
            </a:r>
          </a:p>
          <a:p>
            <a:pPr algn="l">
              <a:lnSpc>
                <a:spcPct val="145000"/>
              </a:lnSpc>
            </a:pPr>
            <a:r>
              <a:rPr sz="1800" b="1">
                <a:solidFill>
                  <a:srgbClr val="22D3EE"/>
                </a:solidFill>
                <a:latin typeface="Helvetica Neue"/>
              </a:rPr>
              <a:t> ▸ </a:t>
            </a:r>
            <a:r>
              <a:rPr sz="1800">
                <a:solidFill>
                  <a:srgbClr val="B8B8C8"/>
                </a:solidFill>
                <a:latin typeface="Helvetica Neue"/>
              </a:rPr>
              <a:t>Manual-test checklist gate added by Valkyrie — never silently flips `status: done`.</a:t>
            </a:r>
          </a:p>
          <a:p>
            <a:pPr algn="l">
              <a:lnSpc>
                <a:spcPct val="145000"/>
              </a:lnSpc>
            </a:pPr>
            <a:r>
              <a:rPr sz="1800" b="1">
                <a:solidFill>
                  <a:srgbClr val="22D3EE"/>
                </a:solidFill>
                <a:latin typeface="Helvetica Neue"/>
              </a:rPr>
              <a:t> ▸ </a:t>
            </a:r>
            <a:r>
              <a:rPr sz="1800">
                <a:solidFill>
                  <a:srgbClr val="B8B8C8"/>
                </a:solidFill>
                <a:latin typeface="Helvetica Neue"/>
              </a:rPr>
              <a:t>Acceptance criteria checked off as PRs land.</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TDD — the only stage that writes production code.</a:t>
            </a:r>
          </a:p>
        </p:txBody>
      </p:sp>
      <p:sp>
        <p:nvSpPr>
          <p:cNvPr id="8" name="TextBox 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AFK — POCOCK'S RALPH PATTERN</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AFK  —  the autonomous loop.</a:t>
            </a:r>
          </a:p>
        </p:txBody>
      </p:sp>
      <p:sp>
        <p:nvSpPr>
          <p:cNvPr id="5" name="Rounded Rectangle 4"/>
          <p:cNvSpPr/>
          <p:nvPr/>
        </p:nvSpPr>
        <p:spPr>
          <a:xfrm>
            <a:off x="640080" y="1737360"/>
            <a:ext cx="4023360" cy="36576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2800" b="1">
                <a:solidFill>
                  <a:srgbClr val="0A0A12"/>
                </a:solidFill>
                <a:latin typeface="Helvetica Neue"/>
              </a:rPr>
              <a:t>AFK
(walk away)</a:t>
            </a:r>
          </a:p>
        </p:txBody>
      </p:sp>
      <p:sp>
        <p:nvSpPr>
          <p:cNvPr id="6" name="TextBox 5"/>
          <p:cNvSpPr txBox="1"/>
          <p:nvPr/>
        </p:nvSpPr>
        <p:spPr>
          <a:xfrm>
            <a:off x="5120640" y="1828800"/>
            <a:ext cx="6766560" cy="4114800"/>
          </a:xfrm>
          <a:prstGeom prst="rect">
            <a:avLst/>
          </a:prstGeom>
          <a:noFill/>
        </p:spPr>
        <p:txBody>
          <a:bodyPr wrap="square" lIns="0" rIns="0" tIns="0" bIns="0">
            <a:spAutoFit/>
          </a:bodyPr>
          <a:lstStyle/>
          <a:p>
            <a:pPr algn="l">
              <a:lnSpc>
                <a:spcPct val="145000"/>
              </a:lnSpc>
            </a:pPr>
            <a:r>
              <a:rPr sz="1800" b="1">
                <a:solidFill>
                  <a:srgbClr val="22D3EE"/>
                </a:solidFill>
                <a:latin typeface="Helvetica Neue"/>
              </a:rPr>
              <a:t> ▸ </a:t>
            </a:r>
            <a:r>
              <a:rPr sz="1800">
                <a:solidFill>
                  <a:srgbClr val="B8B8C8"/>
                </a:solidFill>
                <a:latin typeface="Helvetica Neue"/>
              </a:rPr>
              <a:t>Re-spawns a fresh CLI session per issue — *no context bleed* across slices.</a:t>
            </a:r>
          </a:p>
          <a:p>
            <a:pPr algn="l">
              <a:lnSpc>
                <a:spcPct val="145000"/>
              </a:lnSpc>
            </a:pPr>
            <a:r>
              <a:rPr sz="1800" b="1">
                <a:solidFill>
                  <a:srgbClr val="22D3EE"/>
                </a:solidFill>
                <a:latin typeface="Helvetica Neue"/>
              </a:rPr>
              <a:t> ▸ </a:t>
            </a:r>
            <a:r>
              <a:rPr sz="1800">
                <a:solidFill>
                  <a:srgbClr val="B8B8C8"/>
                </a:solidFill>
                <a:latin typeface="Helvetica Neue"/>
              </a:rPr>
              <a:t>Picks unblocked issues in dependency order automatically.</a:t>
            </a:r>
          </a:p>
          <a:p>
            <a:pPr algn="l">
              <a:lnSpc>
                <a:spcPct val="145000"/>
              </a:lnSpc>
            </a:pPr>
            <a:r>
              <a:rPr sz="1800" b="1">
                <a:solidFill>
                  <a:srgbClr val="22D3EE"/>
                </a:solidFill>
                <a:latin typeface="Helvetica Neue"/>
              </a:rPr>
              <a:t> ▸ </a:t>
            </a:r>
            <a:r>
              <a:rPr sz="1800">
                <a:solidFill>
                  <a:srgbClr val="B8B8C8"/>
                </a:solidFill>
                <a:latin typeface="Helvetica Neue"/>
              </a:rPr>
              <a:t>Budget caps in every dimension: `--max-hours`, `--max-cost-usd`, iteration count.</a:t>
            </a:r>
          </a:p>
          <a:p>
            <a:pPr algn="l">
              <a:lnSpc>
                <a:spcPct val="145000"/>
              </a:lnSpc>
            </a:pPr>
            <a:r>
              <a:rPr sz="1800" b="1">
                <a:solidFill>
                  <a:srgbClr val="22D3EE"/>
                </a:solidFill>
                <a:latin typeface="Helvetica Neue"/>
              </a:rPr>
              <a:t> ▸ </a:t>
            </a:r>
            <a:r>
              <a:rPr sz="1800">
                <a:solidFill>
                  <a:srgbClr val="B8B8C8"/>
                </a:solidFill>
                <a:latin typeface="Helvetica Neue"/>
              </a:rPr>
              <a:t>Closed-stdin abort is a deliberate safety guard against accidental cron launches.</a:t>
            </a:r>
          </a:p>
          <a:p>
            <a:pPr algn="l">
              <a:lnSpc>
                <a:spcPct val="145000"/>
              </a:lnSpc>
            </a:pPr>
            <a:r>
              <a:rPr sz="1800" b="1">
                <a:solidFill>
                  <a:srgbClr val="22D3EE"/>
                </a:solidFill>
                <a:latin typeface="Helvetica Neue"/>
              </a:rPr>
              <a:t> ▸ </a:t>
            </a:r>
            <a:r>
              <a:rPr sz="1800">
                <a:solidFill>
                  <a:srgbClr val="B8B8C8"/>
                </a:solidFill>
                <a:latin typeface="Helvetica Neue"/>
              </a:rPr>
              <a:t>Run from your shell with `!afk N` (you confirm), or `afk N --no-confirm` when Claude launches it.</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AFK — Ralph pattern from aihero.dev, wrapped with budgets and telemetry.</a:t>
            </a:r>
          </a:p>
        </p:txBody>
      </p:sp>
      <p:sp>
        <p:nvSpPr>
          <p:cNvPr id="8" name="TextBox 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8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BLOCK DIAGRAM — BASE</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The Matt Pocock stack — what we start with.</a:t>
            </a:r>
          </a:p>
        </p:txBody>
      </p:sp>
      <p:sp>
        <p:nvSpPr>
          <p:cNvPr id="5" name="Rounded Rectangle 4"/>
          <p:cNvSpPr/>
          <p:nvPr/>
        </p:nvSpPr>
        <p:spPr>
          <a:xfrm>
            <a:off x="914400" y="1828800"/>
            <a:ext cx="10241280" cy="3291840"/>
          </a:xfrm>
          <a:prstGeom prst="roundRect">
            <a:avLst>
              <a:gd name="adj" fmla="val 8000"/>
            </a:avLst>
          </a:prstGeom>
          <a:no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t" lIns="73152" rIns="73152" tIns="36576"/>
          <a:lstStyle/>
          <a:p>
            <a:pPr algn="l"/>
            <a:r>
              <a:rPr sz="1400" b="1">
                <a:solidFill>
                  <a:srgbClr val="F59E0B"/>
                </a:solidFill>
                <a:latin typeface="Helvetica Neue"/>
              </a:rPr>
              <a:t>MATT POCOCK — the open-source base</a:t>
            </a:r>
          </a:p>
        </p:txBody>
      </p:sp>
      <p:sp>
        <p:nvSpPr>
          <p:cNvPr id="6" name="Rounded Rectangle 5"/>
          <p:cNvSpPr/>
          <p:nvPr/>
        </p:nvSpPr>
        <p:spPr>
          <a:xfrm>
            <a:off x="1280160" y="2834640"/>
            <a:ext cx="1920240" cy="13716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DESIGN
(grill-with-docs)</a:t>
            </a:r>
          </a:p>
        </p:txBody>
      </p:sp>
      <p:sp>
        <p:nvSpPr>
          <p:cNvPr id="7" name="Rounded Rectangle 6"/>
          <p:cNvSpPr/>
          <p:nvPr/>
        </p:nvSpPr>
        <p:spPr>
          <a:xfrm>
            <a:off x="3703320" y="2834640"/>
            <a:ext cx="1920240" cy="13716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PRD
(to-prd)</a:t>
            </a:r>
          </a:p>
        </p:txBody>
      </p:sp>
      <p:sp>
        <p:nvSpPr>
          <p:cNvPr id="8" name="Rounded Rectangle 7"/>
          <p:cNvSpPr/>
          <p:nvPr/>
        </p:nvSpPr>
        <p:spPr>
          <a:xfrm>
            <a:off x="6126479" y="2834640"/>
            <a:ext cx="1920240" cy="13716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ISSUES
(to-issues)</a:t>
            </a:r>
          </a:p>
        </p:txBody>
      </p:sp>
      <p:sp>
        <p:nvSpPr>
          <p:cNvPr id="9" name="Rounded Rectangle 8"/>
          <p:cNvSpPr/>
          <p:nvPr/>
        </p:nvSpPr>
        <p:spPr>
          <a:xfrm>
            <a:off x="8549640" y="2834640"/>
            <a:ext cx="1920240" cy="13716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TDD
(tdd)</a:t>
            </a:r>
          </a:p>
        </p:txBody>
      </p:sp>
      <p:cxnSp>
        <p:nvCxnSpPr>
          <p:cNvPr id="10" name="Connector 9"/>
          <p:cNvCxnSpPr/>
          <p:nvPr/>
        </p:nvCxnSpPr>
        <p:spPr>
          <a:xfrm>
            <a:off x="3218688" y="3520440"/>
            <a:ext cx="466344" cy="0"/>
          </a:xfrm>
          <a:prstGeom prst="line">
            <a:avLst/>
          </a:prstGeom>
          <a:ln w="3175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641848" y="3520440"/>
            <a:ext cx="466344" cy="0"/>
          </a:xfrm>
          <a:prstGeom prst="line">
            <a:avLst/>
          </a:prstGeom>
          <a:ln w="3175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065007" y="3520440"/>
            <a:ext cx="466345" cy="0"/>
          </a:xfrm>
          <a:prstGeom prst="line">
            <a:avLst/>
          </a:prstGeom>
          <a:ln w="3175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80160" y="4389120"/>
            <a:ext cx="8961120" cy="548640"/>
          </a:xfrm>
          <a:prstGeom prst="roundRect">
            <a:avLst>
              <a:gd name="adj" fmla="val 8000"/>
            </a:avLst>
          </a:prstGeom>
          <a:noFill/>
          <a:ln w="19050">
            <a:solidFill>
              <a:srgbClr val="F59E0B"/>
            </a:solidFill>
            <a:prstDash val="dash"/>
          </a:ln>
        </p:spPr>
        <p:style>
          <a:lnRef idx="1">
            <a:schemeClr val="accent1"/>
          </a:lnRef>
          <a:fillRef idx="3">
            <a:schemeClr val="accent1"/>
          </a:fillRef>
          <a:effectRef idx="2">
            <a:schemeClr val="accent1"/>
          </a:effectRef>
          <a:fontRef idx="minor">
            <a:schemeClr val="lt1"/>
          </a:fontRef>
        </p:style>
        <p:txBody>
          <a:bodyPr rtlCol="0" anchor="t" lIns="73152" rIns="73152" tIns="36576"/>
          <a:lstStyle/>
          <a:p>
            <a:pPr algn="l"/>
            <a:r>
              <a:rPr sz="1400" b="1">
                <a:solidFill>
                  <a:srgbClr val="F59E0B"/>
                </a:solidFill>
                <a:latin typeface="Helvetica Neue"/>
              </a:rPr>
              <a:t>AFK — Ralph autonomous loop (wraps the slice queue)</a:t>
            </a:r>
          </a:p>
        </p:txBody>
      </p:sp>
      <p:sp>
        <p:nvSpPr>
          <p:cNvPr id="14" name="TextBox 13"/>
          <p:cNvSpPr txBox="1"/>
          <p:nvPr/>
        </p:nvSpPr>
        <p:spPr>
          <a:xfrm>
            <a:off x="914400" y="5486400"/>
            <a:ext cx="10241280" cy="457200"/>
          </a:xfrm>
          <a:prstGeom prst="rect">
            <a:avLst/>
          </a:prstGeom>
          <a:noFill/>
        </p:spPr>
        <p:txBody>
          <a:bodyPr wrap="square" anchor="t" lIns="0" rIns="0" tIns="0" bIns="0">
            <a:spAutoFit/>
          </a:bodyPr>
          <a:lstStyle/>
          <a:p>
            <a:pPr algn="ctr"/>
            <a:r>
              <a:rPr sz="1400" b="0" i="1">
                <a:solidFill>
                  <a:srgbClr val="B8B8C8"/>
                </a:solidFill>
                <a:latin typeface="Helvetica Neue"/>
              </a:rPr>
              <a:t>DESIGN → PRD → ISSUES → TDD as stages; AFK as the autonomous wrapper.</a:t>
            </a:r>
          </a:p>
        </p:txBody>
      </p:sp>
      <p:sp>
        <p:nvSpPr>
          <p:cNvPr id="15" name="TextBox 14"/>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Pocock's pieces, before Valkyrie touches them.</a:t>
            </a:r>
          </a:p>
        </p:txBody>
      </p:sp>
      <p:sp>
        <p:nvSpPr>
          <p:cNvPr id="16" name="TextBox 15"/>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9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LIMITS</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Pocock alone, in practice.</a:t>
            </a:r>
          </a:p>
        </p:txBody>
      </p:sp>
      <p:sp>
        <p:nvSpPr>
          <p:cNvPr id="5" name="TextBox 4"/>
          <p:cNvSpPr txBox="1"/>
          <p:nvPr/>
        </p:nvSpPr>
        <p:spPr>
          <a:xfrm>
            <a:off x="640080" y="1554480"/>
            <a:ext cx="10972800" cy="4572000"/>
          </a:xfrm>
          <a:prstGeom prst="rect">
            <a:avLst/>
          </a:prstGeom>
          <a:noFill/>
        </p:spPr>
        <p:txBody>
          <a:bodyPr wrap="square" lIns="0" rIns="0" tIns="0" bIns="0">
            <a:spAutoFit/>
          </a:bodyPr>
          <a:lstStyle/>
          <a:p>
            <a:pPr algn="l">
              <a:lnSpc>
                <a:spcPct val="140000"/>
              </a:lnSpc>
            </a:pPr>
            <a:r>
              <a:rPr sz="1800" b="1">
                <a:solidFill>
                  <a:srgbClr val="22D3EE"/>
                </a:solidFill>
                <a:latin typeface="Helvetica Neue"/>
              </a:rPr>
              <a:t> ▸ </a:t>
            </a:r>
            <a:r>
              <a:rPr sz="1800">
                <a:solidFill>
                  <a:srgbClr val="B8B8C8"/>
                </a:solidFill>
                <a:latin typeface="Helvetica Neue"/>
              </a:rPr>
              <a:t>Walls of text per stage — you re-read three paragraphs to find the next decision.</a:t>
            </a:r>
          </a:p>
          <a:p>
            <a:pPr algn="l">
              <a:lnSpc>
                <a:spcPct val="140000"/>
              </a:lnSpc>
            </a:pPr>
            <a:r>
              <a:rPr sz="1800" b="1">
                <a:solidFill>
                  <a:srgbClr val="22D3EE"/>
                </a:solidFill>
                <a:latin typeface="Helvetica Neue"/>
              </a:rPr>
              <a:t> ▸ </a:t>
            </a:r>
            <a:r>
              <a:rPr sz="1800">
                <a:solidFill>
                  <a:srgbClr val="B8B8C8"/>
                </a:solidFill>
                <a:latin typeface="Helvetica Neue"/>
              </a:rPr>
              <a:t>No mechanical wall — the model can decide it's ready and start writing code.</a:t>
            </a:r>
          </a:p>
          <a:p>
            <a:pPr algn="l">
              <a:lnSpc>
                <a:spcPct val="140000"/>
              </a:lnSpc>
            </a:pPr>
            <a:r>
              <a:rPr sz="1800" b="1">
                <a:solidFill>
                  <a:srgbClr val="22D3EE"/>
                </a:solidFill>
                <a:latin typeface="Helvetica Neue"/>
              </a:rPr>
              <a:t> ▸ </a:t>
            </a:r>
            <a:r>
              <a:rPr sz="1800">
                <a:solidFill>
                  <a:srgbClr val="B8B8C8"/>
                </a:solidFill>
                <a:latin typeface="Helvetica Neue"/>
              </a:rPr>
              <a:t>PRD-REVIEW is honor-based: an enthusiastic "looks good" passes.</a:t>
            </a:r>
          </a:p>
          <a:p>
            <a:pPr algn="l">
              <a:lnSpc>
                <a:spcPct val="140000"/>
              </a:lnSpc>
            </a:pPr>
            <a:r>
              <a:rPr sz="1800" b="1">
                <a:solidFill>
                  <a:srgbClr val="22D3EE"/>
                </a:solidFill>
                <a:latin typeface="Helvetica Neue"/>
              </a:rPr>
              <a:t> ▸ </a:t>
            </a:r>
            <a:r>
              <a:rPr sz="1800">
                <a:solidFill>
                  <a:srgbClr val="B8B8C8"/>
                </a:solidFill>
                <a:latin typeface="Helvetica Neue"/>
              </a:rPr>
              <a:t>Long sessions / handoffs lose the orchestrator, gates silently turn into honor-based reminders.</a:t>
            </a:r>
          </a:p>
          <a:p>
            <a:pPr algn="l">
              <a:lnSpc>
                <a:spcPct val="140000"/>
              </a:lnSpc>
            </a:pPr>
            <a:r>
              <a:rPr sz="1800" b="1">
                <a:solidFill>
                  <a:srgbClr val="22D3EE"/>
                </a:solidFill>
                <a:latin typeface="Helvetica Neue"/>
              </a:rPr>
              <a:t> ▸ </a:t>
            </a:r>
            <a:r>
              <a:rPr sz="1800">
                <a:solidFill>
                  <a:srgbClr val="B8B8C8"/>
                </a:solidFill>
                <a:latin typeface="Helvetica Neue"/>
              </a:rPr>
              <a:t>Context limit reached → fresh session restarts without the workflow state.</a:t>
            </a:r>
          </a:p>
          <a:p>
            <a:pPr algn="l">
              <a:lnSpc>
                <a:spcPct val="140000"/>
              </a:lnSpc>
            </a:pPr>
            <a:r>
              <a:rPr sz="1800" b="1">
                <a:solidFill>
                  <a:srgbClr val="22D3EE"/>
                </a:solidFill>
                <a:latin typeface="Helvetica Neue"/>
              </a:rPr>
              <a:t> ▸ </a:t>
            </a:r>
            <a:r>
              <a:rPr sz="1800">
                <a:solidFill>
                  <a:srgbClr val="B8B8C8"/>
                </a:solidFill>
                <a:latin typeface="Helvetica Neue"/>
              </a:rPr>
              <a:t>No place for the *why* (intent) — fuzzy goal in, fuzzy PRD out.</a:t>
            </a:r>
          </a:p>
          <a:p>
            <a:pPr algn="l">
              <a:lnSpc>
                <a:spcPct val="140000"/>
              </a:lnSpc>
            </a:pPr>
            <a:r>
              <a:rPr sz="1800" b="1">
                <a:solidFill>
                  <a:srgbClr val="22D3EE"/>
                </a:solidFill>
                <a:latin typeface="Helvetica Neue"/>
              </a:rPr>
              <a:t> ▸ </a:t>
            </a:r>
            <a:r>
              <a:rPr sz="1800">
                <a:solidFill>
                  <a:srgbClr val="B8B8C8"/>
                </a:solidFill>
                <a:latin typeface="Helvetica Neue"/>
              </a:rPr>
              <a:t>AFK runs use placeholder cost estimates and no real per-iteration audit trail.</a:t>
            </a:r>
          </a:p>
        </p:txBody>
      </p:sp>
      <p:sp>
        <p:nvSpPr>
          <p:cNvPr id="6" name="TextBox 5"/>
          <p:cNvSpPr txBox="1"/>
          <p:nvPr/>
        </p:nvSpPr>
        <p:spPr>
          <a:xfrm>
            <a:off x="640080" y="6217920"/>
            <a:ext cx="10972800" cy="365760"/>
          </a:xfrm>
          <a:prstGeom prst="rect">
            <a:avLst/>
          </a:prstGeom>
          <a:noFill/>
        </p:spPr>
        <p:txBody>
          <a:bodyPr wrap="square" anchor="t" lIns="0" rIns="0" tIns="0" bIns="0">
            <a:spAutoFit/>
          </a:bodyPr>
          <a:lstStyle/>
          <a:p>
            <a:pPr algn="l"/>
            <a:r>
              <a:rPr sz="1400" b="0" i="1">
                <a:solidFill>
                  <a:srgbClr val="22D3EE"/>
                </a:solidFill>
                <a:latin typeface="Helvetica Neue"/>
              </a:rPr>
              <a:t>These are the seams Valkyrie was built to close.</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Each row above is a Valkyrie feature on the next slides.</a:t>
            </a:r>
          </a:p>
        </p:txBody>
      </p:sp>
      <p:sp>
        <p:nvSpPr>
          <p:cNvPr id="8" name="TextBox 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OVERVIEW</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What Valkyrie adds.</a:t>
            </a:r>
          </a:p>
        </p:txBody>
      </p:sp>
      <p:sp>
        <p:nvSpPr>
          <p:cNvPr id="5" name="Rounded Rectangle 4"/>
          <p:cNvSpPr/>
          <p:nvPr/>
        </p:nvSpPr>
        <p:spPr>
          <a:xfrm>
            <a:off x="502920" y="1554480"/>
            <a:ext cx="3657600" cy="411480"/>
          </a:xfrm>
          <a:prstGeom prst="roundRect">
            <a:avLst>
              <a:gd name="adj" fmla="val 15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BEFORE DESIGN</a:t>
            </a:r>
          </a:p>
        </p:txBody>
      </p:sp>
      <p:sp>
        <p:nvSpPr>
          <p:cNvPr id="6" name="TextBox 5"/>
          <p:cNvSpPr txBox="1"/>
          <p:nvPr/>
        </p:nvSpPr>
        <p:spPr>
          <a:xfrm>
            <a:off x="548640" y="2103120"/>
            <a:ext cx="3566160" cy="4206240"/>
          </a:xfrm>
          <a:prstGeom prst="rect">
            <a:avLst/>
          </a:prstGeom>
          <a:noFill/>
        </p:spPr>
        <p:txBody>
          <a:bodyPr wrap="square" lIns="0" rIns="0" tIns="0" bIns="0">
            <a:spAutoFit/>
          </a:bodyPr>
          <a:lstStyle/>
          <a:p>
            <a:pPr algn="l">
              <a:lnSpc>
                <a:spcPct val="135000"/>
              </a:lnSpc>
            </a:pPr>
            <a:r>
              <a:rPr sz="1200" b="1">
                <a:solidFill>
                  <a:srgbClr val="22D3EE"/>
                </a:solidFill>
                <a:latin typeface="Helvetica Neue"/>
              </a:rPr>
              <a:t> · </a:t>
            </a:r>
            <a:r>
              <a:rPr sz="1200">
                <a:solidFill>
                  <a:srgbClr val="B8B8C8"/>
                </a:solidFill>
                <a:latin typeface="Helvetica Neue"/>
              </a:rPr>
              <a:t>INTENT Lock (new stage)</a:t>
            </a:r>
          </a:p>
          <a:p>
            <a:pPr algn="l">
              <a:lnSpc>
                <a:spcPct val="135000"/>
              </a:lnSpc>
            </a:pPr>
            <a:r>
              <a:rPr sz="1200" b="1">
                <a:solidFill>
                  <a:srgbClr val="22D3EE"/>
                </a:solidFill>
                <a:latin typeface="Helvetica Neue"/>
              </a:rPr>
              <a:t> · </a:t>
            </a:r>
            <a:r>
              <a:rPr sz="1200">
                <a:solidFill>
                  <a:srgbClr val="B8B8C8"/>
                </a:solidFill>
                <a:latin typeface="Helvetica Neue"/>
              </a:rPr>
              <a:t>Optional progressive-enhancement docs</a:t>
            </a:r>
          </a:p>
          <a:p>
            <a:pPr algn="l">
              <a:lnSpc>
                <a:spcPct val="135000"/>
              </a:lnSpc>
            </a:pPr>
            <a:r>
              <a:rPr sz="1200" b="1">
                <a:solidFill>
                  <a:srgbClr val="22D3EE"/>
                </a:solidFill>
                <a:latin typeface="Helvetica Neue"/>
              </a:rPr>
              <a:t> · </a:t>
            </a:r>
            <a:r>
              <a:rPr sz="1200">
                <a:solidFill>
                  <a:srgbClr val="B8B8C8"/>
                </a:solidFill>
                <a:latin typeface="Helvetica Neue"/>
              </a:rPr>
              <a:t>`DOMAIN.md` · `PRODUCT-MAP.md`</a:t>
            </a:r>
          </a:p>
          <a:p>
            <a:pPr algn="l">
              <a:lnSpc>
                <a:spcPct val="135000"/>
              </a:lnSpc>
            </a:pPr>
            <a:r>
              <a:rPr sz="1200" b="1">
                <a:solidFill>
                  <a:srgbClr val="22D3EE"/>
                </a:solidFill>
                <a:latin typeface="Helvetica Neue"/>
              </a:rPr>
              <a:t> · </a:t>
            </a:r>
            <a:r>
              <a:rPr sz="1200">
                <a:solidFill>
                  <a:srgbClr val="B8B8C8"/>
                </a:solidFill>
                <a:latin typeface="Helvetica Neue"/>
              </a:rPr>
              <a:t>`CONTEXT.md` · `docs/intent/*.md`</a:t>
            </a:r>
          </a:p>
          <a:p>
            <a:pPr algn="l">
              <a:lnSpc>
                <a:spcPct val="135000"/>
              </a:lnSpc>
            </a:pPr>
            <a:r>
              <a:rPr sz="1200" b="1">
                <a:solidFill>
                  <a:srgbClr val="22D3EE"/>
                </a:solidFill>
                <a:latin typeface="Helvetica Neue"/>
              </a:rPr>
              <a:t> · </a:t>
            </a:r>
            <a:r>
              <a:rPr sz="1200">
                <a:solidFill>
                  <a:srgbClr val="B8B8C8"/>
                </a:solidFill>
                <a:latin typeface="Helvetica Neue"/>
              </a:rPr>
              <a:t>ADRs</a:t>
            </a:r>
          </a:p>
        </p:txBody>
      </p:sp>
      <p:sp>
        <p:nvSpPr>
          <p:cNvPr id="7" name="Rounded Rectangle 6"/>
          <p:cNvSpPr/>
          <p:nvPr/>
        </p:nvSpPr>
        <p:spPr>
          <a:xfrm>
            <a:off x="4343400" y="1554480"/>
            <a:ext cx="3657600" cy="41148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ENFORCEMENT + ERGONOMICS</a:t>
            </a:r>
          </a:p>
        </p:txBody>
      </p:sp>
      <p:sp>
        <p:nvSpPr>
          <p:cNvPr id="8" name="TextBox 7"/>
          <p:cNvSpPr txBox="1"/>
          <p:nvPr/>
        </p:nvSpPr>
        <p:spPr>
          <a:xfrm>
            <a:off x="4389120" y="2103120"/>
            <a:ext cx="3566160" cy="4206240"/>
          </a:xfrm>
          <a:prstGeom prst="rect">
            <a:avLst/>
          </a:prstGeom>
          <a:noFill/>
        </p:spPr>
        <p:txBody>
          <a:bodyPr wrap="square" lIns="0" rIns="0" tIns="0" bIns="0">
            <a:spAutoFit/>
          </a:bodyPr>
          <a:lstStyle/>
          <a:p>
            <a:pPr algn="l">
              <a:lnSpc>
                <a:spcPct val="135000"/>
              </a:lnSpc>
            </a:pPr>
            <a:r>
              <a:rPr sz="1200" b="1">
                <a:solidFill>
                  <a:srgbClr val="22D3EE"/>
                </a:solidFill>
                <a:latin typeface="Helvetica Neue"/>
              </a:rPr>
              <a:t> · </a:t>
            </a:r>
            <a:r>
              <a:rPr sz="1200">
                <a:solidFill>
                  <a:srgbClr val="B8B8C8"/>
                </a:solidFill>
                <a:latin typeface="Helvetica Neue"/>
              </a:rPr>
              <a:t>`/valk` orchestrator skill</a:t>
            </a:r>
          </a:p>
          <a:p>
            <a:pPr algn="l">
              <a:lnSpc>
                <a:spcPct val="135000"/>
              </a:lnSpc>
            </a:pPr>
            <a:r>
              <a:rPr sz="1200" b="1">
                <a:solidFill>
                  <a:srgbClr val="22D3EE"/>
                </a:solidFill>
                <a:latin typeface="Helvetica Neue"/>
              </a:rPr>
              <a:t> · </a:t>
            </a:r>
            <a:r>
              <a:rPr sz="1200">
                <a:solidFill>
                  <a:srgbClr val="B8B8C8"/>
                </a:solidFill>
                <a:latin typeface="Helvetica Neue"/>
              </a:rPr>
              <a:t>Statusline showing live stage</a:t>
            </a:r>
          </a:p>
          <a:p>
            <a:pPr algn="l">
              <a:lnSpc>
                <a:spcPct val="135000"/>
              </a:lnSpc>
            </a:pPr>
            <a:r>
              <a:rPr sz="1200" b="1">
                <a:solidFill>
                  <a:srgbClr val="22D3EE"/>
                </a:solidFill>
                <a:latin typeface="Helvetica Neue"/>
              </a:rPr>
              <a:t> · </a:t>
            </a:r>
            <a:r>
              <a:rPr sz="1200">
                <a:solidFill>
                  <a:srgbClr val="B8B8C8"/>
                </a:solidFill>
                <a:latin typeface="Helvetica Neue"/>
              </a:rPr>
              <a:t>UserPromptSubmit guard (nudge)</a:t>
            </a:r>
          </a:p>
          <a:p>
            <a:pPr algn="l">
              <a:lnSpc>
                <a:spcPct val="135000"/>
              </a:lnSpc>
            </a:pPr>
            <a:r>
              <a:rPr sz="1200" b="1">
                <a:solidFill>
                  <a:srgbClr val="22D3EE"/>
                </a:solidFill>
                <a:latin typeface="Helvetica Neue"/>
              </a:rPr>
              <a:t> · </a:t>
            </a:r>
            <a:r>
              <a:rPr sz="1200">
                <a:solidFill>
                  <a:srgbClr val="B8B8C8"/>
                </a:solidFill>
                <a:latin typeface="Helvetica Neue"/>
              </a:rPr>
              <a:t>PreToolUse TDD gate (hard wall)</a:t>
            </a:r>
          </a:p>
          <a:p>
            <a:pPr algn="l">
              <a:lnSpc>
                <a:spcPct val="135000"/>
              </a:lnSpc>
            </a:pPr>
            <a:r>
              <a:rPr sz="1200" b="1">
                <a:solidFill>
                  <a:srgbClr val="22D3EE"/>
                </a:solidFill>
                <a:latin typeface="Helvetica Neue"/>
              </a:rPr>
              <a:t> · </a:t>
            </a:r>
            <a:r>
              <a:rPr sz="1200">
                <a:solidFill>
                  <a:srgbClr val="B8B8C8"/>
                </a:solidFill>
                <a:latin typeface="Helvetica Neue"/>
              </a:rPr>
              <a:t>PostToolUse telemetry (audit log)</a:t>
            </a:r>
          </a:p>
          <a:p>
            <a:pPr algn="l">
              <a:lnSpc>
                <a:spcPct val="135000"/>
              </a:lnSpc>
            </a:pPr>
            <a:r>
              <a:rPr sz="1200" b="1">
                <a:solidFill>
                  <a:srgbClr val="22D3EE"/>
                </a:solidFill>
                <a:latin typeface="Helvetica Neue"/>
              </a:rPr>
              <a:t> · </a:t>
            </a:r>
            <a:r>
              <a:rPr sz="1200">
                <a:solidFill>
                  <a:srgbClr val="B8B8C8"/>
                </a:solidFill>
                <a:latin typeface="Helvetica Neue"/>
              </a:rPr>
              <a:t>HITL checklists at PRD-REVIEW + TDD completion</a:t>
            </a:r>
          </a:p>
          <a:p>
            <a:pPr algn="l">
              <a:lnSpc>
                <a:spcPct val="135000"/>
              </a:lnSpc>
            </a:pPr>
            <a:r>
              <a:rPr sz="1200" b="1">
                <a:solidFill>
                  <a:srgbClr val="22D3EE"/>
                </a:solidFill>
                <a:latin typeface="Helvetica Neue"/>
              </a:rPr>
              <a:t> · </a:t>
            </a:r>
            <a:r>
              <a:rPr sz="1200">
                <a:solidFill>
                  <a:srgbClr val="B8B8C8"/>
                </a:solidFill>
                <a:latin typeface="Helvetica Neue"/>
              </a:rPr>
              <a:t>Mid-stream loop-back (`valk-revisit`)</a:t>
            </a:r>
          </a:p>
          <a:p>
            <a:pPr algn="l">
              <a:lnSpc>
                <a:spcPct val="135000"/>
              </a:lnSpc>
            </a:pPr>
            <a:r>
              <a:rPr sz="1200" b="1">
                <a:solidFill>
                  <a:srgbClr val="22D3EE"/>
                </a:solidFill>
                <a:latin typeface="Helvetica Neue"/>
              </a:rPr>
              <a:t> · </a:t>
            </a:r>
            <a:r>
              <a:rPr sz="1200">
                <a:solidFill>
                  <a:srgbClr val="B8B8C8"/>
                </a:solidFill>
                <a:latin typeface="Helvetica Neue"/>
              </a:rPr>
              <a:t>Concurrent worktrees (`valk-worktree` / `valk-land`)</a:t>
            </a:r>
          </a:p>
          <a:p>
            <a:pPr algn="l">
              <a:lnSpc>
                <a:spcPct val="135000"/>
              </a:lnSpc>
            </a:pPr>
            <a:r>
              <a:rPr sz="1200" b="1">
                <a:solidFill>
                  <a:srgbClr val="22D3EE"/>
                </a:solidFill>
                <a:latin typeface="Helvetica Neue"/>
              </a:rPr>
              <a:t> · </a:t>
            </a:r>
            <a:r>
              <a:rPr sz="1200">
                <a:solidFill>
                  <a:srgbClr val="B8B8C8"/>
                </a:solidFill>
                <a:latin typeface="Helvetica Neue"/>
              </a:rPr>
              <a:t>Handoff routing rule</a:t>
            </a:r>
          </a:p>
        </p:txBody>
      </p:sp>
      <p:sp>
        <p:nvSpPr>
          <p:cNvPr id="9" name="Rounded Rectangle 8"/>
          <p:cNvSpPr/>
          <p:nvPr/>
        </p:nvSpPr>
        <p:spPr>
          <a:xfrm>
            <a:off x="8183880" y="1554480"/>
            <a:ext cx="3657600" cy="41148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AROUND TDD + AFK</a:t>
            </a:r>
          </a:p>
        </p:txBody>
      </p:sp>
      <p:sp>
        <p:nvSpPr>
          <p:cNvPr id="10" name="TextBox 9"/>
          <p:cNvSpPr txBox="1"/>
          <p:nvPr/>
        </p:nvSpPr>
        <p:spPr>
          <a:xfrm>
            <a:off x="8229600" y="2103120"/>
            <a:ext cx="3566160" cy="4206240"/>
          </a:xfrm>
          <a:prstGeom prst="rect">
            <a:avLst/>
          </a:prstGeom>
          <a:noFill/>
        </p:spPr>
        <p:txBody>
          <a:bodyPr wrap="square" lIns="0" rIns="0" tIns="0" bIns="0">
            <a:spAutoFit/>
          </a:bodyPr>
          <a:lstStyle/>
          <a:p>
            <a:pPr algn="l">
              <a:lnSpc>
                <a:spcPct val="135000"/>
              </a:lnSpc>
            </a:pPr>
            <a:r>
              <a:rPr sz="1200" b="1">
                <a:solidFill>
                  <a:srgbClr val="22D3EE"/>
                </a:solidFill>
                <a:latin typeface="Helvetica Neue"/>
              </a:rPr>
              <a:t> · </a:t>
            </a:r>
            <a:r>
              <a:rPr sz="1200">
                <a:solidFill>
                  <a:srgbClr val="B8B8C8"/>
                </a:solidFill>
                <a:latin typeface="Helvetica Neue"/>
              </a:rPr>
              <a:t>Real cost tracking (OpenAI rates for codex)</a:t>
            </a:r>
          </a:p>
          <a:p>
            <a:pPr algn="l">
              <a:lnSpc>
                <a:spcPct val="135000"/>
              </a:lnSpc>
            </a:pPr>
            <a:r>
              <a:rPr sz="1200" b="1">
                <a:solidFill>
                  <a:srgbClr val="22D3EE"/>
                </a:solidFill>
                <a:latin typeface="Helvetica Neue"/>
              </a:rPr>
              <a:t> · </a:t>
            </a:r>
            <a:r>
              <a:rPr sz="1200">
                <a:solidFill>
                  <a:srgbClr val="B8B8C8"/>
                </a:solidFill>
                <a:latin typeface="Helvetica Neue"/>
              </a:rPr>
              <a:t>Three CLIs: claude, codex, copilot</a:t>
            </a:r>
          </a:p>
          <a:p>
            <a:pPr algn="l">
              <a:lnSpc>
                <a:spcPct val="135000"/>
              </a:lnSpc>
            </a:pPr>
            <a:r>
              <a:rPr sz="1200" b="1">
                <a:solidFill>
                  <a:srgbClr val="22D3EE"/>
                </a:solidFill>
                <a:latin typeface="Helvetica Neue"/>
              </a:rPr>
              <a:t> · </a:t>
            </a:r>
            <a:r>
              <a:rPr sz="1200">
                <a:solidFill>
                  <a:srgbClr val="B8B8C8"/>
                </a:solidFill>
                <a:latin typeface="Helvetica Neue"/>
              </a:rPr>
              <a:t>Escalation ladder: sonnet → opus by default</a:t>
            </a:r>
          </a:p>
          <a:p>
            <a:pPr algn="l">
              <a:lnSpc>
                <a:spcPct val="135000"/>
              </a:lnSpc>
            </a:pPr>
            <a:r>
              <a:rPr sz="1200" b="1">
                <a:solidFill>
                  <a:srgbClr val="22D3EE"/>
                </a:solidFill>
                <a:latin typeface="Helvetica Neue"/>
              </a:rPr>
              <a:t> · </a:t>
            </a:r>
            <a:r>
              <a:rPr sz="1200">
                <a:solidFill>
                  <a:srgbClr val="B8B8C8"/>
                </a:solidFill>
                <a:latin typeface="Helvetica Neue"/>
              </a:rPr>
              <a:t>Manual-test gate before `status: done`</a:t>
            </a:r>
          </a:p>
          <a:p>
            <a:pPr algn="l">
              <a:lnSpc>
                <a:spcPct val="135000"/>
              </a:lnSpc>
            </a:pPr>
            <a:r>
              <a:rPr sz="1200" b="1">
                <a:solidFill>
                  <a:srgbClr val="22D3EE"/>
                </a:solidFill>
                <a:latin typeface="Helvetica Neue"/>
              </a:rPr>
              <a:t> · </a:t>
            </a:r>
            <a:r>
              <a:rPr sz="1200">
                <a:solidFill>
                  <a:srgbClr val="B8B8C8"/>
                </a:solidFill>
                <a:latin typeface="Helvetica Neue"/>
              </a:rPr>
              <a:t>Model-tier rule: insight over code volume</a:t>
            </a:r>
          </a:p>
          <a:p>
            <a:pPr algn="l">
              <a:lnSpc>
                <a:spcPct val="135000"/>
              </a:lnSpc>
            </a:pPr>
            <a:r>
              <a:rPr sz="1200" b="1">
                <a:solidFill>
                  <a:srgbClr val="22D3EE"/>
                </a:solidFill>
                <a:latin typeface="Helvetica Neue"/>
              </a:rPr>
              <a:t> · </a:t>
            </a:r>
            <a:r>
              <a:rPr sz="1200">
                <a:solidFill>
                  <a:srgbClr val="B8B8C8"/>
                </a:solidFill>
                <a:latin typeface="Helvetica Neue"/>
              </a:rPr>
              <a:t>Optional Agent Creator (crew shim)</a:t>
            </a:r>
          </a:p>
        </p:txBody>
      </p:sp>
      <p:sp>
        <p:nvSpPr>
          <p:cNvPr id="11" name="TextBox 10"/>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Each item on these lists is a separate, opt-in addition.</a:t>
            </a:r>
          </a:p>
        </p:txBody>
      </p:sp>
      <p:sp>
        <p:nvSpPr>
          <p:cNvPr id="12" name="TextBox 11"/>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VALKYRIE ADDITION (NEW STAGE)</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INTENT — the gate before the gate.</a:t>
            </a:r>
          </a:p>
        </p:txBody>
      </p:sp>
      <p:sp>
        <p:nvSpPr>
          <p:cNvPr id="5" name="Rounded Rectangle 4"/>
          <p:cNvSpPr/>
          <p:nvPr/>
        </p:nvSpPr>
        <p:spPr>
          <a:xfrm>
            <a:off x="640080" y="1783080"/>
            <a:ext cx="3657600" cy="3657600"/>
          </a:xfrm>
          <a:prstGeom prst="roundRect">
            <a:avLst>
              <a:gd name="adj" fmla="val 15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2600" b="1">
                <a:solidFill>
                  <a:srgbClr val="0A0A12"/>
                </a:solidFill>
                <a:latin typeface="Helvetica Neue"/>
              </a:rPr>
              <a:t>INTENT LOCK</a:t>
            </a:r>
          </a:p>
        </p:txBody>
      </p:sp>
      <p:sp>
        <p:nvSpPr>
          <p:cNvPr id="6" name="TextBox 5"/>
          <p:cNvSpPr txBox="1"/>
          <p:nvPr/>
        </p:nvSpPr>
        <p:spPr>
          <a:xfrm>
            <a:off x="4754880" y="1874519"/>
            <a:ext cx="6949440" cy="3657600"/>
          </a:xfrm>
          <a:prstGeom prst="rect">
            <a:avLst/>
          </a:prstGeom>
          <a:noFill/>
        </p:spPr>
        <p:txBody>
          <a:bodyPr wrap="square" lIns="0" rIns="0" tIns="0" bIns="0">
            <a:spAutoFit/>
          </a:bodyPr>
          <a:lstStyle/>
          <a:p>
            <a:pPr algn="l">
              <a:lnSpc>
                <a:spcPct val="140000"/>
              </a:lnSpc>
            </a:pPr>
            <a:r>
              <a:rPr sz="1800" b="1">
                <a:solidFill>
                  <a:srgbClr val="22D3EE"/>
                </a:solidFill>
                <a:latin typeface="Helvetica Neue"/>
              </a:rPr>
              <a:t> ▸ </a:t>
            </a:r>
            <a:r>
              <a:rPr sz="1800">
                <a:solidFill>
                  <a:srgbClr val="B8B8C8"/>
                </a:solidFill>
                <a:latin typeface="Helvetica Neue"/>
              </a:rPr>
              <a:t>Lock the WHY before exploring the HOW.</a:t>
            </a:r>
          </a:p>
          <a:p>
            <a:pPr algn="l">
              <a:lnSpc>
                <a:spcPct val="140000"/>
              </a:lnSpc>
            </a:pPr>
            <a:r>
              <a:rPr sz="1800" b="1">
                <a:solidFill>
                  <a:srgbClr val="22D3EE"/>
                </a:solidFill>
                <a:latin typeface="Helvetica Neue"/>
              </a:rPr>
              <a:t> ▸ </a:t>
            </a:r>
            <a:r>
              <a:rPr sz="1800">
                <a:solidFill>
                  <a:srgbClr val="B8B8C8"/>
                </a:solidFill>
                <a:latin typeface="Helvetica Neue"/>
              </a:rPr>
              <a:t>Every gap is a *question*, never an assumption — "no inference allowed."</a:t>
            </a:r>
          </a:p>
          <a:p>
            <a:pPr algn="l">
              <a:lnSpc>
                <a:spcPct val="140000"/>
              </a:lnSpc>
            </a:pPr>
            <a:r>
              <a:rPr sz="1800" b="1">
                <a:solidFill>
                  <a:srgbClr val="22D3EE"/>
                </a:solidFill>
                <a:latin typeface="Helvetica Neue"/>
              </a:rPr>
              <a:t> ▸ </a:t>
            </a:r>
            <a:r>
              <a:rPr sz="1800">
                <a:solidFill>
                  <a:srgbClr val="B8B8C8"/>
                </a:solidFill>
                <a:latin typeface="Helvetica Neue"/>
              </a:rPr>
              <a:t>Names the domain in one sentence — single repo, bounded context, or umbrella.</a:t>
            </a:r>
          </a:p>
          <a:p>
            <a:pPr algn="l">
              <a:lnSpc>
                <a:spcPct val="140000"/>
              </a:lnSpc>
            </a:pPr>
            <a:r>
              <a:rPr sz="1800" b="1">
                <a:solidFill>
                  <a:srgbClr val="22D3EE"/>
                </a:solidFill>
                <a:latin typeface="Helvetica Neue"/>
              </a:rPr>
              <a:t> ▸ </a:t>
            </a:r>
            <a:r>
              <a:rPr sz="1800">
                <a:solidFill>
                  <a:srgbClr val="B8B8C8"/>
                </a:solidFill>
                <a:latin typeface="Helvetica Neue"/>
              </a:rPr>
              <a:t>Rejects lazy answers ("build X" / "you know what I mean") with the same pattern as PRD-REVIEW.</a:t>
            </a:r>
          </a:p>
          <a:p>
            <a:pPr algn="l">
              <a:lnSpc>
                <a:spcPct val="140000"/>
              </a:lnSpc>
            </a:pPr>
            <a:r>
              <a:rPr sz="1800" b="1">
                <a:solidFill>
                  <a:srgbClr val="22D3EE"/>
                </a:solidFill>
                <a:latin typeface="Helvetica Neue"/>
              </a:rPr>
              <a:t> ▸ </a:t>
            </a:r>
            <a:r>
              <a:rPr sz="1800">
                <a:solidFill>
                  <a:srgbClr val="B8B8C8"/>
                </a:solidFill>
                <a:latin typeface="Helvetica Neue"/>
              </a:rPr>
              <a:t>Optional persistence to `docs/intent/&lt;slug&gt;.md` (`/to-intent`).</a:t>
            </a:r>
          </a:p>
          <a:p>
            <a:pPr algn="l">
              <a:lnSpc>
                <a:spcPct val="140000"/>
              </a:lnSpc>
            </a:pPr>
            <a:r>
              <a:rPr sz="1800" b="1">
                <a:solidFill>
                  <a:srgbClr val="22D3EE"/>
                </a:solidFill>
                <a:latin typeface="Helvetica Neue"/>
              </a:rPr>
              <a:t> ▸ </a:t>
            </a:r>
            <a:r>
              <a:rPr sz="1800">
                <a:solidFill>
                  <a:srgbClr val="B8B8C8"/>
                </a:solidFill>
                <a:latin typeface="Helvetica Neue"/>
              </a:rPr>
              <a:t>Folds *inside* DESIGN as its opening phase, but conceptually it sits *before* Pocock's pipeline.</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INTENT — colleague's idea: "intent is the vital first gate."</a:t>
            </a:r>
          </a:p>
        </p:txBody>
      </p:sp>
      <p:sp>
        <p:nvSpPr>
          <p:cNvPr id="8" name="TextBox 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BLOCK DIAGRAM — EXTENDED</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The full Valkyrie shape.</a:t>
            </a:r>
          </a:p>
        </p:txBody>
      </p:sp>
      <p:sp>
        <p:nvSpPr>
          <p:cNvPr id="5" name="Rounded Rectangle 4"/>
          <p:cNvSpPr/>
          <p:nvPr/>
        </p:nvSpPr>
        <p:spPr>
          <a:xfrm>
            <a:off x="2194560" y="2286000"/>
            <a:ext cx="7680960" cy="3017520"/>
          </a:xfrm>
          <a:prstGeom prst="roundRect">
            <a:avLst>
              <a:gd name="adj" fmla="val 8000"/>
            </a:avLst>
          </a:prstGeom>
          <a:no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t" lIns="73152" rIns="73152" tIns="36576"/>
          <a:lstStyle/>
          <a:p>
            <a:pPr algn="l"/>
            <a:r>
              <a:rPr sz="1400" b="1">
                <a:solidFill>
                  <a:srgbClr val="F59E0B"/>
                </a:solidFill>
                <a:latin typeface="Helvetica Neue"/>
              </a:rPr>
              <a:t>MATT POCOCK</a:t>
            </a:r>
          </a:p>
        </p:txBody>
      </p:sp>
      <p:sp>
        <p:nvSpPr>
          <p:cNvPr id="6" name="Rounded Rectangle 5"/>
          <p:cNvSpPr/>
          <p:nvPr/>
        </p:nvSpPr>
        <p:spPr>
          <a:xfrm>
            <a:off x="2514600" y="3017520"/>
            <a:ext cx="1463040" cy="100584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DESIGN</a:t>
            </a:r>
          </a:p>
        </p:txBody>
      </p:sp>
      <p:sp>
        <p:nvSpPr>
          <p:cNvPr id="7" name="Rounded Rectangle 6"/>
          <p:cNvSpPr/>
          <p:nvPr/>
        </p:nvSpPr>
        <p:spPr>
          <a:xfrm>
            <a:off x="4233672" y="3017520"/>
            <a:ext cx="1463040" cy="100584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PRD</a:t>
            </a:r>
          </a:p>
        </p:txBody>
      </p:sp>
      <p:sp>
        <p:nvSpPr>
          <p:cNvPr id="8" name="Rounded Rectangle 7"/>
          <p:cNvSpPr/>
          <p:nvPr/>
        </p:nvSpPr>
        <p:spPr>
          <a:xfrm>
            <a:off x="5952744" y="3017520"/>
            <a:ext cx="1463040" cy="100584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ISSUES</a:t>
            </a:r>
          </a:p>
        </p:txBody>
      </p:sp>
      <p:sp>
        <p:nvSpPr>
          <p:cNvPr id="9" name="Rounded Rectangle 8"/>
          <p:cNvSpPr/>
          <p:nvPr/>
        </p:nvSpPr>
        <p:spPr>
          <a:xfrm>
            <a:off x="7671816" y="3017520"/>
            <a:ext cx="1463040" cy="100584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TDD</a:t>
            </a:r>
          </a:p>
        </p:txBody>
      </p:sp>
      <p:cxnSp>
        <p:nvCxnSpPr>
          <p:cNvPr id="10" name="Connector 9"/>
          <p:cNvCxnSpPr/>
          <p:nvPr/>
        </p:nvCxnSpPr>
        <p:spPr>
          <a:xfrm>
            <a:off x="3986783" y="3520439"/>
            <a:ext cx="237745" cy="0"/>
          </a:xfrm>
          <a:prstGeom prst="line">
            <a:avLst/>
          </a:prstGeom>
          <a:ln w="3175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705856" y="3520439"/>
            <a:ext cx="237744" cy="0"/>
          </a:xfrm>
          <a:prstGeom prst="line">
            <a:avLst/>
          </a:prstGeom>
          <a:ln w="3175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424927" y="3520439"/>
            <a:ext cx="237745" cy="0"/>
          </a:xfrm>
          <a:prstGeom prst="line">
            <a:avLst/>
          </a:prstGeom>
          <a:ln w="3175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14600" y="4297680"/>
            <a:ext cx="7040880" cy="457200"/>
          </a:xfrm>
          <a:prstGeom prst="roundRect">
            <a:avLst>
              <a:gd name="adj" fmla="val 8000"/>
            </a:avLst>
          </a:prstGeom>
          <a:noFill/>
          <a:ln w="15240">
            <a:solidFill>
              <a:srgbClr val="F59E0B"/>
            </a:solidFill>
            <a:prstDash val="dash"/>
          </a:ln>
        </p:spPr>
        <p:style>
          <a:lnRef idx="1">
            <a:schemeClr val="accent1"/>
          </a:lnRef>
          <a:fillRef idx="3">
            <a:schemeClr val="accent1"/>
          </a:fillRef>
          <a:effectRef idx="2">
            <a:schemeClr val="accent1"/>
          </a:effectRef>
          <a:fontRef idx="minor">
            <a:schemeClr val="lt1"/>
          </a:fontRef>
        </p:style>
        <p:txBody>
          <a:bodyPr rtlCol="0" anchor="t" lIns="73152" rIns="73152" tIns="36576"/>
          <a:lstStyle/>
          <a:p>
            <a:pPr algn="l"/>
            <a:r>
              <a:rPr sz="1400" b="1">
                <a:solidFill>
                  <a:srgbClr val="F59E0B"/>
                </a:solidFill>
                <a:latin typeface="Helvetica Neue"/>
              </a:rPr>
              <a:t>AFK — autonomous loop</a:t>
            </a:r>
          </a:p>
        </p:txBody>
      </p:sp>
      <p:sp>
        <p:nvSpPr>
          <p:cNvPr id="14" name="Rounded Rectangle 13"/>
          <p:cNvSpPr/>
          <p:nvPr/>
        </p:nvSpPr>
        <p:spPr>
          <a:xfrm>
            <a:off x="502920" y="3017520"/>
            <a:ext cx="1280160" cy="1005840"/>
          </a:xfrm>
          <a:prstGeom prst="roundRect">
            <a:avLst>
              <a:gd name="adj" fmla="val 15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INTENT</a:t>
            </a:r>
          </a:p>
        </p:txBody>
      </p:sp>
      <p:cxnSp>
        <p:nvCxnSpPr>
          <p:cNvPr id="15" name="Connector 14"/>
          <p:cNvCxnSpPr/>
          <p:nvPr/>
        </p:nvCxnSpPr>
        <p:spPr>
          <a:xfrm>
            <a:off x="1783080" y="3520440"/>
            <a:ext cx="731520" cy="0"/>
          </a:xfrm>
          <a:prstGeom prst="line">
            <a:avLst/>
          </a:prstGeom>
          <a:ln w="31750">
            <a:solidFill>
              <a:srgbClr val="8B5CF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20" y="4114800"/>
            <a:ext cx="1280160" cy="274320"/>
          </a:xfrm>
          <a:prstGeom prst="rect">
            <a:avLst/>
          </a:prstGeom>
          <a:noFill/>
        </p:spPr>
        <p:txBody>
          <a:bodyPr wrap="square" anchor="t" lIns="0" rIns="0" tIns="0" bIns="0">
            <a:spAutoFit/>
          </a:bodyPr>
          <a:lstStyle/>
          <a:p>
            <a:pPr algn="ctr"/>
            <a:r>
              <a:rPr sz="1000" b="0" i="1">
                <a:solidFill>
                  <a:srgbClr val="8B5CF6"/>
                </a:solidFill>
                <a:latin typeface="Helvetica Neue"/>
              </a:rPr>
              <a:t>Valkyrie</a:t>
            </a:r>
          </a:p>
        </p:txBody>
      </p:sp>
      <p:sp>
        <p:nvSpPr>
          <p:cNvPr id="17" name="Rounded Rectangle 16"/>
          <p:cNvSpPr/>
          <p:nvPr/>
        </p:nvSpPr>
        <p:spPr>
          <a:xfrm>
            <a:off x="10058400" y="3017520"/>
            <a:ext cx="1554480" cy="100584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AGENT
CREATOR
(optional)</a:t>
            </a:r>
          </a:p>
        </p:txBody>
      </p:sp>
      <p:cxnSp>
        <p:nvCxnSpPr>
          <p:cNvPr id="18" name="Connector 17"/>
          <p:cNvCxnSpPr/>
          <p:nvPr/>
        </p:nvCxnSpPr>
        <p:spPr>
          <a:xfrm>
            <a:off x="9153144" y="3520440"/>
            <a:ext cx="886968" cy="0"/>
          </a:xfrm>
          <a:prstGeom prst="line">
            <a:avLst/>
          </a:prstGeom>
          <a:ln w="3175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58400" y="4114800"/>
            <a:ext cx="1554480" cy="274320"/>
          </a:xfrm>
          <a:prstGeom prst="rect">
            <a:avLst/>
          </a:prstGeom>
          <a:noFill/>
        </p:spPr>
        <p:txBody>
          <a:bodyPr wrap="square" anchor="t" lIns="0" rIns="0" tIns="0" bIns="0">
            <a:spAutoFit/>
          </a:bodyPr>
          <a:lstStyle/>
          <a:p>
            <a:pPr algn="ctr"/>
            <a:r>
              <a:rPr sz="1000" b="0" i="1">
                <a:solidFill>
                  <a:srgbClr val="10B981"/>
                </a:solidFill>
                <a:latin typeface="Helvetica Neue"/>
              </a:rPr>
              <a:t>Valkyrie · crew shim</a:t>
            </a:r>
          </a:p>
        </p:txBody>
      </p:sp>
      <p:sp>
        <p:nvSpPr>
          <p:cNvPr id="20" name="Rounded Rectangle 19"/>
          <p:cNvSpPr/>
          <p:nvPr/>
        </p:nvSpPr>
        <p:spPr>
          <a:xfrm>
            <a:off x="502920" y="5440680"/>
            <a:ext cx="11155680" cy="914400"/>
          </a:xfrm>
          <a:prstGeom prst="roundRect">
            <a:avLst>
              <a:gd name="adj" fmla="val 8000"/>
            </a:avLst>
          </a:prstGeom>
          <a:no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t" lIns="73152" rIns="73152" tIns="36576"/>
          <a:lstStyle/>
          <a:p>
            <a:pPr algn="l"/>
            <a:r>
              <a:rPr sz="1400" b="1">
                <a:solidFill>
                  <a:srgbClr val="22D3EE"/>
                </a:solidFill>
                <a:latin typeface="Helvetica Neue"/>
              </a:rPr>
              <a:t>VALKYRIE HARNESS  —  /valk · statusline · 3 hooks · valk-revisit · valk-worktree · valk-land  ·  HITL gates</a:t>
            </a:r>
          </a:p>
        </p:txBody>
      </p:sp>
      <p:sp>
        <p:nvSpPr>
          <p:cNvPr id="21" name="TextBox 20"/>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Pocock at the core; Valkyrie wraps and extends.</a:t>
            </a:r>
          </a:p>
        </p:txBody>
      </p:sp>
      <p:sp>
        <p:nvSpPr>
          <p:cNvPr id="22" name="TextBox 21"/>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13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ENFORCEMENT LAYER</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The harness — what makes it stick.</a:t>
            </a:r>
          </a:p>
        </p:txBody>
      </p:sp>
      <p:sp>
        <p:nvSpPr>
          <p:cNvPr id="5" name="Rounded Rectangle 4"/>
          <p:cNvSpPr/>
          <p:nvPr/>
        </p:nvSpPr>
        <p:spPr>
          <a:xfrm>
            <a:off x="502920" y="1645920"/>
            <a:ext cx="2697480" cy="100584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STATUSLINE
▶ STAGE</a:t>
            </a:r>
          </a:p>
        </p:txBody>
      </p:sp>
      <p:sp>
        <p:nvSpPr>
          <p:cNvPr id="6" name="TextBox 5"/>
          <p:cNvSpPr txBox="1"/>
          <p:nvPr/>
        </p:nvSpPr>
        <p:spPr>
          <a:xfrm>
            <a:off x="594360" y="2788920"/>
            <a:ext cx="2514600" cy="3200400"/>
          </a:xfrm>
          <a:prstGeom prst="rect">
            <a:avLst/>
          </a:prstGeom>
          <a:noFill/>
        </p:spPr>
        <p:txBody>
          <a:bodyPr wrap="square" anchor="t" lIns="0" rIns="0" tIns="0" bIns="0">
            <a:spAutoFit/>
          </a:bodyPr>
          <a:lstStyle/>
          <a:p>
            <a:pPr algn="l"/>
            <a:r>
              <a:rPr sz="1200" b="0" i="0">
                <a:solidFill>
                  <a:srgbClr val="B8B8C8"/>
                </a:solidFill>
                <a:latin typeface="Helvetica Neue"/>
              </a:rPr>
              <a:t>Every prompt shows the current stage.</a:t>
            </a:r>
          </a:p>
          <a:p>
            <a:pPr algn="l"/>
            <a:r>
              <a:rPr sz="1200" b="0" i="0">
                <a:solidFill>
                  <a:srgbClr val="B8B8C8"/>
                </a:solidFill>
                <a:latin typeface="Helvetica Neue"/>
              </a:rPr>
              <a:t/>
            </a:r>
          </a:p>
          <a:p>
            <a:pPr algn="l"/>
            <a:r>
              <a:rPr sz="1200" b="0" i="0">
                <a:solidFill>
                  <a:srgbClr val="B8B8C8"/>
                </a:solidFill>
                <a:latin typeface="Helvetica Neue"/>
              </a:rPr>
              <a:t>You always know whether the next message is design talk or code.</a:t>
            </a:r>
          </a:p>
        </p:txBody>
      </p:sp>
      <p:sp>
        <p:nvSpPr>
          <p:cNvPr id="7" name="TextBox 6"/>
          <p:cNvSpPr txBox="1"/>
          <p:nvPr/>
        </p:nvSpPr>
        <p:spPr>
          <a:xfrm>
            <a:off x="594360" y="5897880"/>
            <a:ext cx="2514600" cy="365760"/>
          </a:xfrm>
          <a:prstGeom prst="rect">
            <a:avLst/>
          </a:prstGeom>
          <a:noFill/>
        </p:spPr>
        <p:txBody>
          <a:bodyPr wrap="square" anchor="t" lIns="0" rIns="0" tIns="0" bIns="0">
            <a:spAutoFit/>
          </a:bodyPr>
          <a:lstStyle/>
          <a:p>
            <a:pPr algn="l"/>
            <a:r>
              <a:rPr sz="1000" b="0" i="1">
                <a:solidFill>
                  <a:srgbClr val="0E7490"/>
                </a:solidFill>
                <a:latin typeface="Menlo"/>
              </a:rPr>
              <a:t>statusline.py</a:t>
            </a:r>
          </a:p>
        </p:txBody>
      </p:sp>
      <p:sp>
        <p:nvSpPr>
          <p:cNvPr id="8" name="Rounded Rectangle 7"/>
          <p:cNvSpPr/>
          <p:nvPr/>
        </p:nvSpPr>
        <p:spPr>
          <a:xfrm>
            <a:off x="3364992" y="1645920"/>
            <a:ext cx="2697480" cy="100584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USER-PROMPT
GUARD</a:t>
            </a:r>
          </a:p>
        </p:txBody>
      </p:sp>
      <p:sp>
        <p:nvSpPr>
          <p:cNvPr id="9" name="TextBox 8"/>
          <p:cNvSpPr txBox="1"/>
          <p:nvPr/>
        </p:nvSpPr>
        <p:spPr>
          <a:xfrm>
            <a:off x="3456432" y="2788920"/>
            <a:ext cx="2514600" cy="3200400"/>
          </a:xfrm>
          <a:prstGeom prst="rect">
            <a:avLst/>
          </a:prstGeom>
          <a:noFill/>
        </p:spPr>
        <p:txBody>
          <a:bodyPr wrap="square" anchor="t" lIns="0" rIns="0" tIns="0" bIns="0">
            <a:spAutoFit/>
          </a:bodyPr>
          <a:lstStyle/>
          <a:p>
            <a:pPr algn="l"/>
            <a:r>
              <a:rPr sz="1200" b="0" i="0">
                <a:solidFill>
                  <a:srgbClr val="B8B8C8"/>
                </a:solidFill>
                <a:latin typeface="Helvetica Neue"/>
              </a:rPr>
              <a:t>Nudges build prompts into `/valk` instead of jumping to code.</a:t>
            </a:r>
          </a:p>
          <a:p>
            <a:pPr algn="l"/>
            <a:r>
              <a:rPr sz="1200" b="0" i="0">
                <a:solidFill>
                  <a:srgbClr val="B8B8C8"/>
                </a:solidFill>
                <a:latin typeface="Helvetica Neue"/>
              </a:rPr>
              <a:t/>
            </a:r>
          </a:p>
          <a:p>
            <a:pPr algn="l"/>
            <a:r>
              <a:rPr sz="1200" b="0" i="0">
                <a:solidFill>
                  <a:srgbClr val="B8B8C8"/>
                </a:solidFill>
                <a:latin typeface="Helvetica Neue"/>
              </a:rPr>
              <a:t>Soft — model can still ignore.</a:t>
            </a:r>
          </a:p>
        </p:txBody>
      </p:sp>
      <p:sp>
        <p:nvSpPr>
          <p:cNvPr id="10" name="TextBox 9"/>
          <p:cNvSpPr txBox="1"/>
          <p:nvPr/>
        </p:nvSpPr>
        <p:spPr>
          <a:xfrm>
            <a:off x="3456432" y="5897880"/>
            <a:ext cx="2514600" cy="365760"/>
          </a:xfrm>
          <a:prstGeom prst="rect">
            <a:avLst/>
          </a:prstGeom>
          <a:noFill/>
        </p:spPr>
        <p:txBody>
          <a:bodyPr wrap="square" anchor="t" lIns="0" rIns="0" tIns="0" bIns="0">
            <a:spAutoFit/>
          </a:bodyPr>
          <a:lstStyle/>
          <a:p>
            <a:pPr algn="l"/>
            <a:r>
              <a:rPr sz="1000" b="0" i="1">
                <a:solidFill>
                  <a:srgbClr val="0E7490"/>
                </a:solidFill>
                <a:latin typeface="Menlo"/>
              </a:rPr>
              <a:t>valk-guard.sh</a:t>
            </a:r>
          </a:p>
        </p:txBody>
      </p:sp>
      <p:sp>
        <p:nvSpPr>
          <p:cNvPr id="11" name="Rounded Rectangle 10"/>
          <p:cNvSpPr/>
          <p:nvPr/>
        </p:nvSpPr>
        <p:spPr>
          <a:xfrm>
            <a:off x="6227064" y="1645920"/>
            <a:ext cx="2697480" cy="100584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TDD GATE
(hard wall)</a:t>
            </a:r>
          </a:p>
        </p:txBody>
      </p:sp>
      <p:sp>
        <p:nvSpPr>
          <p:cNvPr id="12" name="TextBox 11"/>
          <p:cNvSpPr txBox="1"/>
          <p:nvPr/>
        </p:nvSpPr>
        <p:spPr>
          <a:xfrm>
            <a:off x="6318504" y="2788920"/>
            <a:ext cx="2514600" cy="3200400"/>
          </a:xfrm>
          <a:prstGeom prst="rect">
            <a:avLst/>
          </a:prstGeom>
          <a:noFill/>
        </p:spPr>
        <p:txBody>
          <a:bodyPr wrap="square" anchor="t" lIns="0" rIns="0" tIns="0" bIns="0">
            <a:spAutoFit/>
          </a:bodyPr>
          <a:lstStyle/>
          <a:p>
            <a:pPr algn="l"/>
            <a:r>
              <a:rPr sz="1200" b="0" i="0">
                <a:solidFill>
                  <a:srgbClr val="B8B8C8"/>
                </a:solidFill>
                <a:latin typeface="Helvetica Neue"/>
              </a:rPr>
              <a:t>PreToolUse hook.</a:t>
            </a:r>
          </a:p>
          <a:p>
            <a:pPr algn="l"/>
            <a:r>
              <a:rPr sz="1200" b="0" i="0">
                <a:solidFill>
                  <a:srgbClr val="B8B8C8"/>
                </a:solidFill>
                <a:latin typeface="Helvetica Neue"/>
              </a:rPr>
              <a:t/>
            </a:r>
          </a:p>
          <a:p>
            <a:pPr algn="l"/>
            <a:r>
              <a:rPr sz="1200" b="0" i="0">
                <a:solidFill>
                  <a:srgbClr val="B8B8C8"/>
                </a:solidFill>
                <a:latin typeface="Helvetica Neue"/>
              </a:rPr>
              <a:t>Literally DENIES `Edit` / `Write` / `Bash` writes to src/ unless stage is `tdd`.</a:t>
            </a:r>
          </a:p>
          <a:p>
            <a:pPr algn="l"/>
            <a:r>
              <a:rPr sz="1200" b="0" i="0">
                <a:solidFill>
                  <a:srgbClr val="B8B8C8"/>
                </a:solidFill>
                <a:latin typeface="Helvetica Neue"/>
              </a:rPr>
              <a:t/>
            </a:r>
          </a:p>
          <a:p>
            <a:pPr algn="l"/>
            <a:r>
              <a:rPr sz="1200" b="0" i="0">
                <a:solidFill>
                  <a:srgbClr val="B8B8C8"/>
                </a:solidFill>
                <a:latin typeface="Helvetica Neue"/>
              </a:rPr>
              <a:t>Not honor-based — mechanical.</a:t>
            </a:r>
          </a:p>
        </p:txBody>
      </p:sp>
      <p:sp>
        <p:nvSpPr>
          <p:cNvPr id="13" name="TextBox 12"/>
          <p:cNvSpPr txBox="1"/>
          <p:nvPr/>
        </p:nvSpPr>
        <p:spPr>
          <a:xfrm>
            <a:off x="6318504" y="5897880"/>
            <a:ext cx="2514600" cy="365760"/>
          </a:xfrm>
          <a:prstGeom prst="rect">
            <a:avLst/>
          </a:prstGeom>
          <a:noFill/>
        </p:spPr>
        <p:txBody>
          <a:bodyPr wrap="square" anchor="t" lIns="0" rIns="0" tIns="0" bIns="0">
            <a:spAutoFit/>
          </a:bodyPr>
          <a:lstStyle/>
          <a:p>
            <a:pPr algn="l"/>
            <a:r>
              <a:rPr sz="1000" b="0" i="1">
                <a:solidFill>
                  <a:srgbClr val="0E7490"/>
                </a:solidFill>
                <a:latin typeface="Menlo"/>
              </a:rPr>
              <a:t>valk-tdd-gate.sh</a:t>
            </a:r>
          </a:p>
        </p:txBody>
      </p:sp>
      <p:sp>
        <p:nvSpPr>
          <p:cNvPr id="14" name="Rounded Rectangle 13"/>
          <p:cNvSpPr/>
          <p:nvPr/>
        </p:nvSpPr>
        <p:spPr>
          <a:xfrm>
            <a:off x="9089136" y="1645920"/>
            <a:ext cx="2697480" cy="100584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TELEMETRY
(audit log)</a:t>
            </a:r>
          </a:p>
        </p:txBody>
      </p:sp>
      <p:sp>
        <p:nvSpPr>
          <p:cNvPr id="15" name="TextBox 14"/>
          <p:cNvSpPr txBox="1"/>
          <p:nvPr/>
        </p:nvSpPr>
        <p:spPr>
          <a:xfrm>
            <a:off x="9180576" y="2788920"/>
            <a:ext cx="2514600" cy="3200400"/>
          </a:xfrm>
          <a:prstGeom prst="rect">
            <a:avLst/>
          </a:prstGeom>
          <a:noFill/>
        </p:spPr>
        <p:txBody>
          <a:bodyPr wrap="square" anchor="t" lIns="0" rIns="0" tIns="0" bIns="0">
            <a:spAutoFit/>
          </a:bodyPr>
          <a:lstStyle/>
          <a:p>
            <a:pPr algn="l"/>
            <a:r>
              <a:rPr sz="1200" b="0" i="0">
                <a:solidFill>
                  <a:srgbClr val="B8B8C8"/>
                </a:solidFill>
                <a:latin typeface="Helvetica Neue"/>
              </a:rPr>
              <a:t>PostToolUse hook.</a:t>
            </a:r>
          </a:p>
          <a:p>
            <a:pPr algn="l"/>
            <a:r>
              <a:rPr sz="1200" b="0" i="0">
                <a:solidFill>
                  <a:srgbClr val="B8B8C8"/>
                </a:solidFill>
                <a:latin typeface="Helvetica Neue"/>
              </a:rPr>
              <a:t/>
            </a:r>
          </a:p>
          <a:p>
            <a:pPr algn="l"/>
            <a:r>
              <a:rPr sz="1200" b="0" i="0">
                <a:solidFill>
                  <a:srgbClr val="B8B8C8"/>
                </a:solidFill>
                <a:latin typeface="Helvetica Neue"/>
              </a:rPr>
              <a:t>Logs every Read/Edit during active stages — the AFK audit trail.</a:t>
            </a:r>
          </a:p>
        </p:txBody>
      </p:sp>
      <p:sp>
        <p:nvSpPr>
          <p:cNvPr id="16" name="TextBox 15"/>
          <p:cNvSpPr txBox="1"/>
          <p:nvPr/>
        </p:nvSpPr>
        <p:spPr>
          <a:xfrm>
            <a:off x="9180576" y="5897880"/>
            <a:ext cx="2514600" cy="365760"/>
          </a:xfrm>
          <a:prstGeom prst="rect">
            <a:avLst/>
          </a:prstGeom>
          <a:noFill/>
        </p:spPr>
        <p:txBody>
          <a:bodyPr wrap="square" anchor="t" lIns="0" rIns="0" tIns="0" bIns="0">
            <a:spAutoFit/>
          </a:bodyPr>
          <a:lstStyle/>
          <a:p>
            <a:pPr algn="l"/>
            <a:r>
              <a:rPr sz="1000" b="0" i="1">
                <a:solidFill>
                  <a:srgbClr val="0E7490"/>
                </a:solidFill>
                <a:latin typeface="Menlo"/>
              </a:rPr>
              <a:t>valk-telemetry.sh</a:t>
            </a:r>
          </a:p>
        </p:txBody>
      </p:sp>
      <p:sp>
        <p:nvSpPr>
          <p:cNvPr id="17" name="TextBox 1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Three hooks + a statusline = enforcement that survives long sessions.</a:t>
            </a:r>
          </a:p>
        </p:txBody>
      </p:sp>
      <p:sp>
        <p:nvSpPr>
          <p:cNvPr id="18" name="TextBox 1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THE LOAD-BEARING HOOK</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The mechanical wall.</a:t>
            </a:r>
          </a:p>
        </p:txBody>
      </p:sp>
      <p:sp>
        <p:nvSpPr>
          <p:cNvPr id="5" name="TextBox 4"/>
          <p:cNvSpPr txBox="1"/>
          <p:nvPr/>
        </p:nvSpPr>
        <p:spPr>
          <a:xfrm>
            <a:off x="640080" y="1691640"/>
            <a:ext cx="4572000" cy="365760"/>
          </a:xfrm>
          <a:prstGeom prst="rect">
            <a:avLst/>
          </a:prstGeom>
          <a:noFill/>
        </p:spPr>
        <p:txBody>
          <a:bodyPr wrap="square" anchor="t" lIns="0" rIns="0" tIns="0" bIns="0">
            <a:spAutoFit/>
          </a:bodyPr>
          <a:lstStyle/>
          <a:p>
            <a:pPr algn="l"/>
            <a:r>
              <a:rPr sz="1200" b="1" i="0">
                <a:solidFill>
                  <a:srgbClr val="0E7490"/>
                </a:solidFill>
                <a:latin typeface="Helvetica Neue"/>
              </a:rPr>
              <a:t>STAGE</a:t>
            </a:r>
          </a:p>
        </p:txBody>
      </p:sp>
      <p:sp>
        <p:nvSpPr>
          <p:cNvPr id="6" name="TextBox 5"/>
          <p:cNvSpPr txBox="1"/>
          <p:nvPr/>
        </p:nvSpPr>
        <p:spPr>
          <a:xfrm>
            <a:off x="640080" y="2103120"/>
            <a:ext cx="1828800" cy="365760"/>
          </a:xfrm>
          <a:prstGeom prst="rect">
            <a:avLst/>
          </a:prstGeom>
          <a:noFill/>
        </p:spPr>
        <p:txBody>
          <a:bodyPr wrap="square" anchor="t" lIns="0" rIns="0" tIns="0" bIns="0">
            <a:spAutoFit/>
          </a:bodyPr>
          <a:lstStyle/>
          <a:p>
            <a:pPr algn="l"/>
            <a:r>
              <a:rPr sz="1500" b="0" i="0">
                <a:solidFill>
                  <a:srgbClr val="FFFFFF"/>
                </a:solidFill>
                <a:latin typeface="Helvetica Neue"/>
              </a:rPr>
              <a:t>idle</a:t>
            </a:r>
          </a:p>
        </p:txBody>
      </p:sp>
      <p:sp>
        <p:nvSpPr>
          <p:cNvPr id="7" name="TextBox 6"/>
          <p:cNvSpPr txBox="1"/>
          <p:nvPr/>
        </p:nvSpPr>
        <p:spPr>
          <a:xfrm>
            <a:off x="2560320" y="2103120"/>
            <a:ext cx="457200" cy="365760"/>
          </a:xfrm>
          <a:prstGeom prst="rect">
            <a:avLst/>
          </a:prstGeom>
          <a:noFill/>
        </p:spPr>
        <p:txBody>
          <a:bodyPr wrap="square" anchor="t" lIns="0" rIns="0" tIns="0" bIns="0">
            <a:spAutoFit/>
          </a:bodyPr>
          <a:lstStyle/>
          <a:p>
            <a:pPr algn="l"/>
            <a:r>
              <a:rPr sz="1800" b="1" i="0">
                <a:solidFill>
                  <a:srgbClr val="10B981"/>
                </a:solidFill>
                <a:latin typeface="Helvetica Neue"/>
              </a:rPr>
              <a:t>✓</a:t>
            </a:r>
          </a:p>
        </p:txBody>
      </p:sp>
      <p:sp>
        <p:nvSpPr>
          <p:cNvPr id="8" name="TextBox 7"/>
          <p:cNvSpPr txBox="1"/>
          <p:nvPr/>
        </p:nvSpPr>
        <p:spPr>
          <a:xfrm>
            <a:off x="3017520" y="2139696"/>
            <a:ext cx="4114800" cy="365760"/>
          </a:xfrm>
          <a:prstGeom prst="rect">
            <a:avLst/>
          </a:prstGeom>
          <a:noFill/>
        </p:spPr>
        <p:txBody>
          <a:bodyPr wrap="square" anchor="t" lIns="0" rIns="0" tIns="0" bIns="0">
            <a:spAutoFit/>
          </a:bodyPr>
          <a:lstStyle/>
          <a:p>
            <a:pPr algn="l"/>
            <a:r>
              <a:rPr sz="1200" b="0" i="1">
                <a:solidFill>
                  <a:srgbClr val="B8B8C8"/>
                </a:solidFill>
                <a:latin typeface="Helvetica Neue"/>
              </a:rPr>
              <a:t>you're not in a flow</a:t>
            </a:r>
          </a:p>
        </p:txBody>
      </p:sp>
      <p:sp>
        <p:nvSpPr>
          <p:cNvPr id="9" name="TextBox 8"/>
          <p:cNvSpPr txBox="1"/>
          <p:nvPr/>
        </p:nvSpPr>
        <p:spPr>
          <a:xfrm>
            <a:off x="640080" y="2514600"/>
            <a:ext cx="1828800" cy="365760"/>
          </a:xfrm>
          <a:prstGeom prst="rect">
            <a:avLst/>
          </a:prstGeom>
          <a:noFill/>
        </p:spPr>
        <p:txBody>
          <a:bodyPr wrap="square" anchor="t" lIns="0" rIns="0" tIns="0" bIns="0">
            <a:spAutoFit/>
          </a:bodyPr>
          <a:lstStyle/>
          <a:p>
            <a:pPr algn="l"/>
            <a:r>
              <a:rPr sz="1500" b="0" i="0">
                <a:solidFill>
                  <a:srgbClr val="FFFFFF"/>
                </a:solidFill>
                <a:latin typeface="Helvetica Neue"/>
              </a:rPr>
              <a:t>design</a:t>
            </a:r>
          </a:p>
        </p:txBody>
      </p:sp>
      <p:sp>
        <p:nvSpPr>
          <p:cNvPr id="10" name="TextBox 9"/>
          <p:cNvSpPr txBox="1"/>
          <p:nvPr/>
        </p:nvSpPr>
        <p:spPr>
          <a:xfrm>
            <a:off x="2560320" y="2514600"/>
            <a:ext cx="457200" cy="365760"/>
          </a:xfrm>
          <a:prstGeom prst="rect">
            <a:avLst/>
          </a:prstGeom>
          <a:noFill/>
        </p:spPr>
        <p:txBody>
          <a:bodyPr wrap="square" anchor="t" lIns="0" rIns="0" tIns="0" bIns="0">
            <a:spAutoFit/>
          </a:bodyPr>
          <a:lstStyle/>
          <a:p>
            <a:pPr algn="l"/>
            <a:r>
              <a:rPr sz="1800" b="1" i="0">
                <a:solidFill>
                  <a:srgbClr val="F43F5E"/>
                </a:solidFill>
                <a:latin typeface="Helvetica Neue"/>
              </a:rPr>
              <a:t>✕</a:t>
            </a:r>
          </a:p>
        </p:txBody>
      </p:sp>
      <p:sp>
        <p:nvSpPr>
          <p:cNvPr id="11" name="TextBox 10"/>
          <p:cNvSpPr txBox="1"/>
          <p:nvPr/>
        </p:nvSpPr>
        <p:spPr>
          <a:xfrm>
            <a:off x="3017520" y="2551176"/>
            <a:ext cx="4114800" cy="365760"/>
          </a:xfrm>
          <a:prstGeom prst="rect">
            <a:avLst/>
          </a:prstGeom>
          <a:noFill/>
        </p:spPr>
        <p:txBody>
          <a:bodyPr wrap="square" anchor="t" lIns="0" rIns="0" tIns="0" bIns="0">
            <a:spAutoFit/>
          </a:bodyPr>
          <a:lstStyle/>
          <a:p>
            <a:pPr algn="l"/>
            <a:r>
              <a:rPr sz="1200" b="0" i="1">
                <a:solidFill>
                  <a:srgbClr val="B8B8C8"/>
                </a:solidFill>
                <a:latin typeface="Helvetica Neue"/>
              </a:rPr>
              <a:t>no production-code edits</a:t>
            </a:r>
          </a:p>
        </p:txBody>
      </p:sp>
      <p:sp>
        <p:nvSpPr>
          <p:cNvPr id="12" name="TextBox 11"/>
          <p:cNvSpPr txBox="1"/>
          <p:nvPr/>
        </p:nvSpPr>
        <p:spPr>
          <a:xfrm>
            <a:off x="640080" y="2926080"/>
            <a:ext cx="1828800" cy="365760"/>
          </a:xfrm>
          <a:prstGeom prst="rect">
            <a:avLst/>
          </a:prstGeom>
          <a:noFill/>
        </p:spPr>
        <p:txBody>
          <a:bodyPr wrap="square" anchor="t" lIns="0" rIns="0" tIns="0" bIns="0">
            <a:spAutoFit/>
          </a:bodyPr>
          <a:lstStyle/>
          <a:p>
            <a:pPr algn="l"/>
            <a:r>
              <a:rPr sz="1500" b="0" i="0">
                <a:solidFill>
                  <a:srgbClr val="FFFFFF"/>
                </a:solidFill>
                <a:latin typeface="Helvetica Neue"/>
              </a:rPr>
              <a:t>prd</a:t>
            </a:r>
          </a:p>
        </p:txBody>
      </p:sp>
      <p:sp>
        <p:nvSpPr>
          <p:cNvPr id="13" name="TextBox 12"/>
          <p:cNvSpPr txBox="1"/>
          <p:nvPr/>
        </p:nvSpPr>
        <p:spPr>
          <a:xfrm>
            <a:off x="2560320" y="2926080"/>
            <a:ext cx="457200" cy="365760"/>
          </a:xfrm>
          <a:prstGeom prst="rect">
            <a:avLst/>
          </a:prstGeom>
          <a:noFill/>
        </p:spPr>
        <p:txBody>
          <a:bodyPr wrap="square" anchor="t" lIns="0" rIns="0" tIns="0" bIns="0">
            <a:spAutoFit/>
          </a:bodyPr>
          <a:lstStyle/>
          <a:p>
            <a:pPr algn="l"/>
            <a:r>
              <a:rPr sz="1800" b="1" i="0">
                <a:solidFill>
                  <a:srgbClr val="F43F5E"/>
                </a:solidFill>
                <a:latin typeface="Helvetica Neue"/>
              </a:rPr>
              <a:t>✕</a:t>
            </a:r>
          </a:p>
        </p:txBody>
      </p:sp>
      <p:sp>
        <p:nvSpPr>
          <p:cNvPr id="14" name="TextBox 13"/>
          <p:cNvSpPr txBox="1"/>
          <p:nvPr/>
        </p:nvSpPr>
        <p:spPr>
          <a:xfrm>
            <a:off x="3017520" y="2962656"/>
            <a:ext cx="4114800" cy="365760"/>
          </a:xfrm>
          <a:prstGeom prst="rect">
            <a:avLst/>
          </a:prstGeom>
          <a:noFill/>
        </p:spPr>
        <p:txBody>
          <a:bodyPr wrap="square" anchor="t" lIns="0" rIns="0" tIns="0" bIns="0">
            <a:spAutoFit/>
          </a:bodyPr>
          <a:lstStyle/>
          <a:p>
            <a:pPr algn="l"/>
            <a:r>
              <a:rPr sz="1200" b="0" i="1">
                <a:solidFill>
                  <a:srgbClr val="B8B8C8"/>
                </a:solidFill>
                <a:latin typeface="Helvetica Neue"/>
              </a:rPr>
              <a:t>no production-code edits</a:t>
            </a:r>
          </a:p>
        </p:txBody>
      </p:sp>
      <p:sp>
        <p:nvSpPr>
          <p:cNvPr id="15" name="TextBox 14"/>
          <p:cNvSpPr txBox="1"/>
          <p:nvPr/>
        </p:nvSpPr>
        <p:spPr>
          <a:xfrm>
            <a:off x="640080" y="3337560"/>
            <a:ext cx="1828800" cy="365760"/>
          </a:xfrm>
          <a:prstGeom prst="rect">
            <a:avLst/>
          </a:prstGeom>
          <a:noFill/>
        </p:spPr>
        <p:txBody>
          <a:bodyPr wrap="square" anchor="t" lIns="0" rIns="0" tIns="0" bIns="0">
            <a:spAutoFit/>
          </a:bodyPr>
          <a:lstStyle/>
          <a:p>
            <a:pPr algn="l"/>
            <a:r>
              <a:rPr sz="1500" b="0" i="0">
                <a:solidFill>
                  <a:srgbClr val="FFFFFF"/>
                </a:solidFill>
                <a:latin typeface="Helvetica Neue"/>
              </a:rPr>
              <a:t>prd-review</a:t>
            </a:r>
          </a:p>
        </p:txBody>
      </p:sp>
      <p:sp>
        <p:nvSpPr>
          <p:cNvPr id="16" name="TextBox 15"/>
          <p:cNvSpPr txBox="1"/>
          <p:nvPr/>
        </p:nvSpPr>
        <p:spPr>
          <a:xfrm>
            <a:off x="2560320" y="3337560"/>
            <a:ext cx="457200" cy="365760"/>
          </a:xfrm>
          <a:prstGeom prst="rect">
            <a:avLst/>
          </a:prstGeom>
          <a:noFill/>
        </p:spPr>
        <p:txBody>
          <a:bodyPr wrap="square" anchor="t" lIns="0" rIns="0" tIns="0" bIns="0">
            <a:spAutoFit/>
          </a:bodyPr>
          <a:lstStyle/>
          <a:p>
            <a:pPr algn="l"/>
            <a:r>
              <a:rPr sz="1800" b="1" i="0">
                <a:solidFill>
                  <a:srgbClr val="F43F5E"/>
                </a:solidFill>
                <a:latin typeface="Helvetica Neue"/>
              </a:rPr>
              <a:t>✕</a:t>
            </a:r>
          </a:p>
        </p:txBody>
      </p:sp>
      <p:sp>
        <p:nvSpPr>
          <p:cNvPr id="17" name="TextBox 16"/>
          <p:cNvSpPr txBox="1"/>
          <p:nvPr/>
        </p:nvSpPr>
        <p:spPr>
          <a:xfrm>
            <a:off x="3017520" y="3374136"/>
            <a:ext cx="4114800" cy="365760"/>
          </a:xfrm>
          <a:prstGeom prst="rect">
            <a:avLst/>
          </a:prstGeom>
          <a:noFill/>
        </p:spPr>
        <p:txBody>
          <a:bodyPr wrap="square" anchor="t" lIns="0" rIns="0" tIns="0" bIns="0">
            <a:spAutoFit/>
          </a:bodyPr>
          <a:lstStyle/>
          <a:p>
            <a:pPr algn="l"/>
            <a:r>
              <a:rPr sz="1200" b="0" i="1">
                <a:solidFill>
                  <a:srgbClr val="B8B8C8"/>
                </a:solidFill>
                <a:latin typeface="Helvetica Neue"/>
              </a:rPr>
              <a:t>no production-code edits</a:t>
            </a:r>
          </a:p>
        </p:txBody>
      </p:sp>
      <p:sp>
        <p:nvSpPr>
          <p:cNvPr id="18" name="TextBox 17"/>
          <p:cNvSpPr txBox="1"/>
          <p:nvPr/>
        </p:nvSpPr>
        <p:spPr>
          <a:xfrm>
            <a:off x="640080" y="3749040"/>
            <a:ext cx="1828800" cy="365760"/>
          </a:xfrm>
          <a:prstGeom prst="rect">
            <a:avLst/>
          </a:prstGeom>
          <a:noFill/>
        </p:spPr>
        <p:txBody>
          <a:bodyPr wrap="square" anchor="t" lIns="0" rIns="0" tIns="0" bIns="0">
            <a:spAutoFit/>
          </a:bodyPr>
          <a:lstStyle/>
          <a:p>
            <a:pPr algn="l"/>
            <a:r>
              <a:rPr sz="1500" b="0" i="0">
                <a:solidFill>
                  <a:srgbClr val="FFFFFF"/>
                </a:solidFill>
                <a:latin typeface="Helvetica Neue"/>
              </a:rPr>
              <a:t>issues</a:t>
            </a:r>
          </a:p>
        </p:txBody>
      </p:sp>
      <p:sp>
        <p:nvSpPr>
          <p:cNvPr id="19" name="TextBox 18"/>
          <p:cNvSpPr txBox="1"/>
          <p:nvPr/>
        </p:nvSpPr>
        <p:spPr>
          <a:xfrm>
            <a:off x="2560320" y="3749040"/>
            <a:ext cx="457200" cy="365760"/>
          </a:xfrm>
          <a:prstGeom prst="rect">
            <a:avLst/>
          </a:prstGeom>
          <a:noFill/>
        </p:spPr>
        <p:txBody>
          <a:bodyPr wrap="square" anchor="t" lIns="0" rIns="0" tIns="0" bIns="0">
            <a:spAutoFit/>
          </a:bodyPr>
          <a:lstStyle/>
          <a:p>
            <a:pPr algn="l"/>
            <a:r>
              <a:rPr sz="1800" b="1" i="0">
                <a:solidFill>
                  <a:srgbClr val="F43F5E"/>
                </a:solidFill>
                <a:latin typeface="Helvetica Neue"/>
              </a:rPr>
              <a:t>✕</a:t>
            </a:r>
          </a:p>
        </p:txBody>
      </p:sp>
      <p:sp>
        <p:nvSpPr>
          <p:cNvPr id="20" name="TextBox 19"/>
          <p:cNvSpPr txBox="1"/>
          <p:nvPr/>
        </p:nvSpPr>
        <p:spPr>
          <a:xfrm>
            <a:off x="3017520" y="3785616"/>
            <a:ext cx="4114800" cy="365760"/>
          </a:xfrm>
          <a:prstGeom prst="rect">
            <a:avLst/>
          </a:prstGeom>
          <a:noFill/>
        </p:spPr>
        <p:txBody>
          <a:bodyPr wrap="square" anchor="t" lIns="0" rIns="0" tIns="0" bIns="0">
            <a:spAutoFit/>
          </a:bodyPr>
          <a:lstStyle/>
          <a:p>
            <a:pPr algn="l"/>
            <a:r>
              <a:rPr sz="1200" b="0" i="1">
                <a:solidFill>
                  <a:srgbClr val="B8B8C8"/>
                </a:solidFill>
                <a:latin typeface="Helvetica Neue"/>
              </a:rPr>
              <a:t>no production-code edits</a:t>
            </a:r>
          </a:p>
        </p:txBody>
      </p:sp>
      <p:sp>
        <p:nvSpPr>
          <p:cNvPr id="21" name="TextBox 20"/>
          <p:cNvSpPr txBox="1"/>
          <p:nvPr/>
        </p:nvSpPr>
        <p:spPr>
          <a:xfrm>
            <a:off x="640080" y="4160520"/>
            <a:ext cx="1828800" cy="365760"/>
          </a:xfrm>
          <a:prstGeom prst="rect">
            <a:avLst/>
          </a:prstGeom>
          <a:noFill/>
        </p:spPr>
        <p:txBody>
          <a:bodyPr wrap="square" anchor="t" lIns="0" rIns="0" tIns="0" bIns="0">
            <a:spAutoFit/>
          </a:bodyPr>
          <a:lstStyle/>
          <a:p>
            <a:pPr algn="l"/>
            <a:r>
              <a:rPr sz="1500" b="0" i="0">
                <a:solidFill>
                  <a:srgbClr val="FFFFFF"/>
                </a:solidFill>
                <a:latin typeface="Helvetica Neue"/>
              </a:rPr>
              <a:t>tdd</a:t>
            </a:r>
          </a:p>
        </p:txBody>
      </p:sp>
      <p:sp>
        <p:nvSpPr>
          <p:cNvPr id="22" name="TextBox 21"/>
          <p:cNvSpPr txBox="1"/>
          <p:nvPr/>
        </p:nvSpPr>
        <p:spPr>
          <a:xfrm>
            <a:off x="2560320" y="4160520"/>
            <a:ext cx="457200" cy="365760"/>
          </a:xfrm>
          <a:prstGeom prst="rect">
            <a:avLst/>
          </a:prstGeom>
          <a:noFill/>
        </p:spPr>
        <p:txBody>
          <a:bodyPr wrap="square" anchor="t" lIns="0" rIns="0" tIns="0" bIns="0">
            <a:spAutoFit/>
          </a:bodyPr>
          <a:lstStyle/>
          <a:p>
            <a:pPr algn="l"/>
            <a:r>
              <a:rPr sz="1800" b="1" i="0">
                <a:solidFill>
                  <a:srgbClr val="10B981"/>
                </a:solidFill>
                <a:latin typeface="Helvetica Neue"/>
              </a:rPr>
              <a:t>✓</a:t>
            </a:r>
          </a:p>
        </p:txBody>
      </p:sp>
      <p:sp>
        <p:nvSpPr>
          <p:cNvPr id="23" name="TextBox 22"/>
          <p:cNvSpPr txBox="1"/>
          <p:nvPr/>
        </p:nvSpPr>
        <p:spPr>
          <a:xfrm>
            <a:off x="3017520" y="4197096"/>
            <a:ext cx="4114800" cy="365760"/>
          </a:xfrm>
          <a:prstGeom prst="rect">
            <a:avLst/>
          </a:prstGeom>
          <a:noFill/>
        </p:spPr>
        <p:txBody>
          <a:bodyPr wrap="square" anchor="t" lIns="0" rIns="0" tIns="0" bIns="0">
            <a:spAutoFit/>
          </a:bodyPr>
          <a:lstStyle/>
          <a:p>
            <a:pPr algn="l"/>
            <a:r>
              <a:rPr sz="1200" b="0" i="1">
                <a:solidFill>
                  <a:srgbClr val="B8B8C8"/>
                </a:solidFill>
                <a:latin typeface="Helvetica Neue"/>
              </a:rPr>
              <a:t>production code allowed</a:t>
            </a:r>
          </a:p>
        </p:txBody>
      </p:sp>
      <p:sp>
        <p:nvSpPr>
          <p:cNvPr id="24" name="TextBox 23"/>
          <p:cNvSpPr txBox="1"/>
          <p:nvPr/>
        </p:nvSpPr>
        <p:spPr>
          <a:xfrm>
            <a:off x="640080" y="4572000"/>
            <a:ext cx="1828800" cy="365760"/>
          </a:xfrm>
          <a:prstGeom prst="rect">
            <a:avLst/>
          </a:prstGeom>
          <a:noFill/>
        </p:spPr>
        <p:txBody>
          <a:bodyPr wrap="square" anchor="t" lIns="0" rIns="0" tIns="0" bIns="0">
            <a:spAutoFit/>
          </a:bodyPr>
          <a:lstStyle/>
          <a:p>
            <a:pPr algn="l"/>
            <a:r>
              <a:rPr sz="1500" b="0" i="0">
                <a:solidFill>
                  <a:srgbClr val="FFFFFF"/>
                </a:solidFill>
                <a:latin typeface="Helvetica Neue"/>
              </a:rPr>
              <a:t>afk</a:t>
            </a:r>
          </a:p>
        </p:txBody>
      </p:sp>
      <p:sp>
        <p:nvSpPr>
          <p:cNvPr id="25" name="TextBox 24"/>
          <p:cNvSpPr txBox="1"/>
          <p:nvPr/>
        </p:nvSpPr>
        <p:spPr>
          <a:xfrm>
            <a:off x="2560320" y="4572000"/>
            <a:ext cx="457200" cy="365760"/>
          </a:xfrm>
          <a:prstGeom prst="rect">
            <a:avLst/>
          </a:prstGeom>
          <a:noFill/>
        </p:spPr>
        <p:txBody>
          <a:bodyPr wrap="square" anchor="t" lIns="0" rIns="0" tIns="0" bIns="0">
            <a:spAutoFit/>
          </a:bodyPr>
          <a:lstStyle/>
          <a:p>
            <a:pPr algn="l"/>
            <a:r>
              <a:rPr sz="1800" b="1" i="0">
                <a:solidFill>
                  <a:srgbClr val="10B981"/>
                </a:solidFill>
                <a:latin typeface="Helvetica Neue"/>
              </a:rPr>
              <a:t>✓</a:t>
            </a:r>
          </a:p>
        </p:txBody>
      </p:sp>
      <p:sp>
        <p:nvSpPr>
          <p:cNvPr id="26" name="TextBox 25"/>
          <p:cNvSpPr txBox="1"/>
          <p:nvPr/>
        </p:nvSpPr>
        <p:spPr>
          <a:xfrm>
            <a:off x="3017520" y="4608576"/>
            <a:ext cx="4114800" cy="365760"/>
          </a:xfrm>
          <a:prstGeom prst="rect">
            <a:avLst/>
          </a:prstGeom>
          <a:noFill/>
        </p:spPr>
        <p:txBody>
          <a:bodyPr wrap="square" anchor="t" lIns="0" rIns="0" tIns="0" bIns="0">
            <a:spAutoFit/>
          </a:bodyPr>
          <a:lstStyle/>
          <a:p>
            <a:pPr algn="l"/>
            <a:r>
              <a:rPr sz="1200" b="0" i="1">
                <a:solidFill>
                  <a:srgbClr val="B8B8C8"/>
                </a:solidFill>
                <a:latin typeface="Helvetica Neue"/>
              </a:rPr>
              <a:t>loop runs TDD per slice</a:t>
            </a:r>
          </a:p>
        </p:txBody>
      </p:sp>
      <p:sp>
        <p:nvSpPr>
          <p:cNvPr id="27" name="TextBox 26"/>
          <p:cNvSpPr txBox="1"/>
          <p:nvPr/>
        </p:nvSpPr>
        <p:spPr>
          <a:xfrm>
            <a:off x="7680960" y="1691640"/>
            <a:ext cx="4114800" cy="365760"/>
          </a:xfrm>
          <a:prstGeom prst="rect">
            <a:avLst/>
          </a:prstGeom>
          <a:noFill/>
        </p:spPr>
        <p:txBody>
          <a:bodyPr wrap="square" anchor="t" lIns="0" rIns="0" tIns="0" bIns="0">
            <a:spAutoFit/>
          </a:bodyPr>
          <a:lstStyle/>
          <a:p>
            <a:pPr algn="l"/>
            <a:r>
              <a:rPr sz="1200" b="1" i="0">
                <a:solidFill>
                  <a:srgbClr val="0E7490"/>
                </a:solidFill>
                <a:latin typeface="Helvetica Neue"/>
              </a:rPr>
              <a:t>HOW IT WORKS</a:t>
            </a:r>
          </a:p>
        </p:txBody>
      </p:sp>
      <p:sp>
        <p:nvSpPr>
          <p:cNvPr id="28" name="Rounded Rectangle 27"/>
          <p:cNvSpPr/>
          <p:nvPr/>
        </p:nvSpPr>
        <p:spPr>
          <a:xfrm>
            <a:off x="7680960" y="2148840"/>
            <a:ext cx="4023360" cy="640080"/>
          </a:xfrm>
          <a:prstGeom prst="roundRect">
            <a:avLst>
              <a:gd name="adj" fmla="val 15000"/>
            </a:avLst>
          </a:prstGeom>
          <a:solidFill>
            <a:srgbClr val="161622"/>
          </a:solidFill>
          <a:ln w="12700">
            <a:solidFill>
              <a:srgbClr val="333342"/>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0">
                <a:solidFill>
                  <a:srgbClr val="FFFFFF"/>
                </a:solidFill>
                <a:latin typeface="Helvetica Neue"/>
              </a:rPr>
              <a:t>Model tries to Edit src/foo.ts</a:t>
            </a:r>
          </a:p>
        </p:txBody>
      </p:sp>
      <p:cxnSp>
        <p:nvCxnSpPr>
          <p:cNvPr id="29" name="Connector 28"/>
          <p:cNvCxnSpPr/>
          <p:nvPr/>
        </p:nvCxnSpPr>
        <p:spPr>
          <a:xfrm>
            <a:off x="9692640" y="2807208"/>
            <a:ext cx="0" cy="347472"/>
          </a:xfrm>
          <a:prstGeom prst="line">
            <a:avLst/>
          </a:prstGeom>
          <a:ln w="31750">
            <a:solidFill>
              <a:srgbClr val="B8B8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60" y="3200400"/>
            <a:ext cx="4023360" cy="640080"/>
          </a:xfrm>
          <a:prstGeom prst="roundRect">
            <a:avLst>
              <a:gd name="adj" fmla="val 15000"/>
            </a:avLst>
          </a:prstGeom>
          <a:solidFill>
            <a:srgbClr val="161622"/>
          </a:solidFill>
          <a:ln w="12700">
            <a:solidFill>
              <a:srgbClr val="333342"/>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0">
                <a:solidFill>
                  <a:srgbClr val="FFFFFF"/>
                </a:solidFill>
                <a:latin typeface="Helvetica Neue"/>
              </a:rPr>
              <a:t>PreToolUse hook fires (valk-tdd-gate.sh)</a:t>
            </a:r>
          </a:p>
        </p:txBody>
      </p:sp>
      <p:cxnSp>
        <p:nvCxnSpPr>
          <p:cNvPr id="31" name="Connector 30"/>
          <p:cNvCxnSpPr/>
          <p:nvPr/>
        </p:nvCxnSpPr>
        <p:spPr>
          <a:xfrm>
            <a:off x="9692640" y="3858768"/>
            <a:ext cx="0" cy="347472"/>
          </a:xfrm>
          <a:prstGeom prst="line">
            <a:avLst/>
          </a:prstGeom>
          <a:ln w="31750">
            <a:solidFill>
              <a:srgbClr val="B8B8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680960" y="4251960"/>
            <a:ext cx="4023360" cy="640080"/>
          </a:xfrm>
          <a:prstGeom prst="roundRect">
            <a:avLst>
              <a:gd name="adj" fmla="val 15000"/>
            </a:avLst>
          </a:prstGeom>
          <a:solidFill>
            <a:srgbClr val="161622"/>
          </a:solidFill>
          <a:ln w="12700">
            <a:solidFill>
              <a:srgbClr val="333342"/>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0">
                <a:solidFill>
                  <a:srgbClr val="FFFFFF"/>
                </a:solidFill>
                <a:latin typeface="Helvetica Neue"/>
              </a:rPr>
              <a:t>stage.py get  →  reads .claude/valk/stage</a:t>
            </a:r>
          </a:p>
        </p:txBody>
      </p:sp>
      <p:cxnSp>
        <p:nvCxnSpPr>
          <p:cNvPr id="33" name="Connector 32"/>
          <p:cNvCxnSpPr/>
          <p:nvPr/>
        </p:nvCxnSpPr>
        <p:spPr>
          <a:xfrm>
            <a:off x="9692640" y="4910328"/>
            <a:ext cx="0" cy="347472"/>
          </a:xfrm>
          <a:prstGeom prst="line">
            <a:avLst/>
          </a:prstGeom>
          <a:ln w="31750">
            <a:solidFill>
              <a:srgbClr val="B8B8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680960" y="5303520"/>
            <a:ext cx="4023360" cy="640080"/>
          </a:xfrm>
          <a:prstGeom prst="roundRect">
            <a:avLst>
              <a:gd name="adj" fmla="val 15000"/>
            </a:avLst>
          </a:prstGeom>
          <a:solidFill>
            <a:srgbClr val="F43F5E"/>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FFFFFF"/>
                </a:solidFill>
                <a:latin typeface="Helvetica Neue"/>
              </a:rPr>
              <a:t>if stage != tdd → DENY</a:t>
            </a:r>
          </a:p>
        </p:txBody>
      </p:sp>
      <p:sp>
        <p:nvSpPr>
          <p:cNvPr id="35" name="TextBox 34"/>
          <p:cNvSpPr txBox="1"/>
          <p:nvPr/>
        </p:nvSpPr>
        <p:spPr>
          <a:xfrm>
            <a:off x="7680960" y="6080760"/>
            <a:ext cx="4023360" cy="274320"/>
          </a:xfrm>
          <a:prstGeom prst="rect">
            <a:avLst/>
          </a:prstGeom>
          <a:noFill/>
        </p:spPr>
        <p:txBody>
          <a:bodyPr wrap="square" anchor="t" lIns="0" rIns="0" tIns="0" bIns="0">
            <a:spAutoFit/>
          </a:bodyPr>
          <a:lstStyle/>
          <a:p>
            <a:pPr algn="ctr"/>
            <a:r>
              <a:rPr sz="1000" b="0" i="1">
                <a:solidFill>
                  <a:srgbClr val="6A6A80"/>
                </a:solidFill>
                <a:latin typeface="Helvetica Neue"/>
              </a:rPr>
              <a:t>threat model: model drift, not sabotage</a:t>
            </a:r>
          </a:p>
        </p:txBody>
      </p:sp>
      <p:sp>
        <p:nvSpPr>
          <p:cNvPr id="36" name="TextBox 35"/>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Mechanical, not honor-based. Markdown stays writable everywhere.</a:t>
            </a:r>
          </a:p>
        </p:txBody>
      </p:sp>
      <p:sp>
        <p:nvSpPr>
          <p:cNvPr id="37" name="TextBox 36"/>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PROMPT-INJECTION IMPROVEMENTS</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Concise UI &gt; walls of text.</a:t>
            </a:r>
          </a:p>
        </p:txBody>
      </p:sp>
      <p:sp>
        <p:nvSpPr>
          <p:cNvPr id="5" name="TextBox 4"/>
          <p:cNvSpPr txBox="1"/>
          <p:nvPr/>
        </p:nvSpPr>
        <p:spPr>
          <a:xfrm>
            <a:off x="640080" y="1508760"/>
            <a:ext cx="5486400" cy="365760"/>
          </a:xfrm>
          <a:prstGeom prst="rect">
            <a:avLst/>
          </a:prstGeom>
          <a:noFill/>
        </p:spPr>
        <p:txBody>
          <a:bodyPr wrap="square" anchor="t" lIns="0" rIns="0" tIns="0" bIns="0">
            <a:spAutoFit/>
          </a:bodyPr>
          <a:lstStyle/>
          <a:p>
            <a:pPr algn="l"/>
            <a:r>
              <a:rPr sz="1200" b="1" i="0">
                <a:solidFill>
                  <a:srgbClr val="F43F5E"/>
                </a:solidFill>
                <a:latin typeface="Helvetica Neue"/>
              </a:rPr>
              <a:t>RAW: prose monologue</a:t>
            </a:r>
          </a:p>
        </p:txBody>
      </p:sp>
      <p:sp>
        <p:nvSpPr>
          <p:cNvPr id="6" name="Rounded Rectangle 5"/>
          <p:cNvSpPr/>
          <p:nvPr/>
        </p:nvSpPr>
        <p:spPr>
          <a:xfrm>
            <a:off x="640080" y="1920240"/>
            <a:ext cx="5486400" cy="4297680"/>
          </a:xfrm>
          <a:prstGeom prst="roundRect">
            <a:avLst>
              <a:gd name="adj" fmla="val 5000"/>
            </a:avLst>
          </a:prstGeom>
          <a:solidFill>
            <a:srgbClr val="161622"/>
          </a:solidFill>
          <a:ln w="12700">
            <a:solidFill>
              <a:srgbClr val="333342"/>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ctr"/>
            <a:r>
              <a:rPr sz="1400" i="1">
                <a:solidFill>
                  <a:srgbClr val="B8B8C8"/>
                </a:solidFill>
                <a:latin typeface="Helvetica Neue"/>
              </a:rPr>
              <a:t>"Now that we've finished gathering requirements, we can move on to the PRD. The PRD should contain the in-scope items, the out-of-scope items, the implementation decisions, the open questions, the success criteria, and the rationale for each implementation decision. Once you're satisfied with the PRD, we can move on to issue breakdown. Are you ready?"</a:t>
            </a:r>
          </a:p>
        </p:txBody>
      </p:sp>
      <p:sp>
        <p:nvSpPr>
          <p:cNvPr id="7" name="TextBox 6"/>
          <p:cNvSpPr txBox="1"/>
          <p:nvPr/>
        </p:nvSpPr>
        <p:spPr>
          <a:xfrm>
            <a:off x="6675120" y="1508760"/>
            <a:ext cx="5029200" cy="365760"/>
          </a:xfrm>
          <a:prstGeom prst="rect">
            <a:avLst/>
          </a:prstGeom>
          <a:noFill/>
        </p:spPr>
        <p:txBody>
          <a:bodyPr wrap="square" anchor="t" lIns="0" rIns="0" tIns="0" bIns="0">
            <a:spAutoFit/>
          </a:bodyPr>
          <a:lstStyle/>
          <a:p>
            <a:pPr algn="l"/>
            <a:r>
              <a:rPr sz="1200" b="1" i="0">
                <a:solidFill>
                  <a:srgbClr val="10B981"/>
                </a:solidFill>
                <a:latin typeface="Helvetica Neue"/>
              </a:rPr>
              <a:t>VALKYRIE: structured options</a:t>
            </a:r>
          </a:p>
        </p:txBody>
      </p:sp>
      <p:sp>
        <p:nvSpPr>
          <p:cNvPr id="8" name="TextBox 7"/>
          <p:cNvSpPr txBox="1"/>
          <p:nvPr/>
        </p:nvSpPr>
        <p:spPr>
          <a:xfrm>
            <a:off x="6675120" y="1920240"/>
            <a:ext cx="5029200" cy="914400"/>
          </a:xfrm>
          <a:prstGeom prst="rect">
            <a:avLst/>
          </a:prstGeom>
          <a:noFill/>
        </p:spPr>
        <p:txBody>
          <a:bodyPr wrap="square" anchor="t" lIns="0" rIns="0" tIns="0" bIns="0">
            <a:spAutoFit/>
          </a:bodyPr>
          <a:lstStyle/>
          <a:p>
            <a:pPr algn="l"/>
            <a:r>
              <a:rPr sz="1300" b="1" i="0">
                <a:solidFill>
                  <a:srgbClr val="FFFFFF"/>
                </a:solidFill>
                <a:latin typeface="Helvetica Neue"/>
              </a:rPr>
              <a:t>All 5 decisions above are in scope and will all be built.</a:t>
            </a:r>
          </a:p>
        </p:txBody>
      </p:sp>
      <p:sp>
        <p:nvSpPr>
          <p:cNvPr id="9" name="Rounded Rectangle 8"/>
          <p:cNvSpPr/>
          <p:nvPr/>
        </p:nvSpPr>
        <p:spPr>
          <a:xfrm>
            <a:off x="6675120" y="3017520"/>
            <a:ext cx="5029200" cy="59436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300" b="1">
                <a:solidFill>
                  <a:srgbClr val="0A0A12"/>
                </a:solidFill>
                <a:latin typeface="Helvetica Neue"/>
              </a:rPr>
              <a:t>Approve — build all 5 decisions (full scope)</a:t>
            </a:r>
          </a:p>
        </p:txBody>
      </p:sp>
      <p:sp>
        <p:nvSpPr>
          <p:cNvPr id="10" name="Rounded Rectangle 9"/>
          <p:cNvSpPr/>
          <p:nvPr/>
        </p:nvSpPr>
        <p:spPr>
          <a:xfrm>
            <a:off x="6675120" y="3749039"/>
            <a:ext cx="5029200" cy="59436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300" b="1">
                <a:solidFill>
                  <a:srgbClr val="0A0A12"/>
                </a:solidFill>
                <a:latin typeface="Helvetica Neue"/>
              </a:rPr>
              <a:t>Redline a decision</a:t>
            </a:r>
          </a:p>
        </p:txBody>
      </p:sp>
      <p:sp>
        <p:nvSpPr>
          <p:cNvPr id="11" name="Rounded Rectangle 10"/>
          <p:cNvSpPr/>
          <p:nvPr/>
        </p:nvSpPr>
        <p:spPr>
          <a:xfrm>
            <a:off x="6675120" y="4480560"/>
            <a:ext cx="5029200" cy="594360"/>
          </a:xfrm>
          <a:prstGeom prst="roundRect">
            <a:avLst>
              <a:gd name="adj" fmla="val 15000"/>
            </a:avLst>
          </a:prstGeom>
          <a:solidFill>
            <a:srgbClr val="161622"/>
          </a:solidFill>
          <a:ln w="12700">
            <a:solidFill>
              <a:srgbClr val="333342"/>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300" b="1">
                <a:solidFill>
                  <a:srgbClr val="FFFFFF"/>
                </a:solidFill>
                <a:latin typeface="Helvetica Neue"/>
              </a:rPr>
              <a:t>Open the file first</a:t>
            </a:r>
          </a:p>
        </p:txBody>
      </p:sp>
      <p:sp>
        <p:nvSpPr>
          <p:cNvPr id="12" name="TextBox 11"/>
          <p:cNvSpPr txBox="1"/>
          <p:nvPr/>
        </p:nvSpPr>
        <p:spPr>
          <a:xfrm>
            <a:off x="6675120" y="5349240"/>
            <a:ext cx="5029200" cy="914400"/>
          </a:xfrm>
          <a:prstGeom prst="rect">
            <a:avLst/>
          </a:prstGeom>
          <a:noFill/>
        </p:spPr>
        <p:txBody>
          <a:bodyPr wrap="square" anchor="t" lIns="0" rIns="0" tIns="0" bIns="0">
            <a:spAutoFit/>
          </a:bodyPr>
          <a:lstStyle/>
          <a:p>
            <a:pPr algn="l"/>
            <a:r>
              <a:rPr sz="1100" b="0" i="1">
                <a:solidFill>
                  <a:srgbClr val="6A6A80"/>
                </a:solidFill>
                <a:latin typeface="Helvetica Neue"/>
              </a:rPr>
              <a:t>Same decision; bare "yes" / "lgtm" still rejected — must click one.</a:t>
            </a:r>
          </a:p>
        </p:txBody>
      </p:sp>
      <p:sp>
        <p:nvSpPr>
          <p:cNvPr id="13" name="TextBox 12"/>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Every gate works this way: clear options, clear refusal pattern.</a:t>
            </a:r>
          </a:p>
        </p:txBody>
      </p:sp>
      <p:sp>
        <p:nvSpPr>
          <p:cNvPr id="14" name="TextBox 13"/>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16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BLOCKERS</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Human-in-the-loop gates.</a:t>
            </a:r>
          </a:p>
        </p:txBody>
      </p:sp>
      <p:sp>
        <p:nvSpPr>
          <p:cNvPr id="5" name="Rounded Rectangle 4"/>
          <p:cNvSpPr/>
          <p:nvPr/>
        </p:nvSpPr>
        <p:spPr>
          <a:xfrm>
            <a:off x="502920" y="1645920"/>
            <a:ext cx="2697480" cy="1005840"/>
          </a:xfrm>
          <a:prstGeom prst="roundRect">
            <a:avLst>
              <a:gd name="adj" fmla="val 15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300" b="1">
                <a:solidFill>
                  <a:srgbClr val="0A0A12"/>
                </a:solidFill>
                <a:latin typeface="Helvetica Neue"/>
              </a:rPr>
              <a:t>PRD-REVIEW</a:t>
            </a:r>
          </a:p>
        </p:txBody>
      </p:sp>
      <p:sp>
        <p:nvSpPr>
          <p:cNvPr id="6" name="TextBox 5"/>
          <p:cNvSpPr txBox="1"/>
          <p:nvPr/>
        </p:nvSpPr>
        <p:spPr>
          <a:xfrm>
            <a:off x="594360" y="2788920"/>
            <a:ext cx="2514600" cy="2743200"/>
          </a:xfrm>
          <a:prstGeom prst="rect">
            <a:avLst/>
          </a:prstGeom>
          <a:noFill/>
        </p:spPr>
        <p:txBody>
          <a:bodyPr wrap="square" anchor="t" lIns="0" rIns="0" tIns="0" bIns="0">
            <a:spAutoFit/>
          </a:bodyPr>
          <a:lstStyle/>
          <a:p>
            <a:pPr algn="l"/>
            <a:r>
              <a:rPr sz="1200" b="0" i="0">
                <a:solidFill>
                  <a:srgbClr val="B8B8C8"/>
                </a:solidFill>
                <a:latin typeface="Helvetica Neue"/>
              </a:rPr>
              <a:t>Single "Approve all N decisions" option.</a:t>
            </a:r>
          </a:p>
          <a:p>
            <a:pPr algn="l"/>
            <a:r>
              <a:rPr sz="1200" b="0" i="0">
                <a:solidFill>
                  <a:srgbClr val="B8B8C8"/>
                </a:solidFill>
                <a:latin typeface="Helvetica Neue"/>
              </a:rPr>
              <a:t>"yes" / "lgtm" rejected.</a:t>
            </a:r>
          </a:p>
          <a:p>
            <a:pPr algn="l"/>
            <a:r>
              <a:rPr sz="1200" b="0" i="0">
                <a:solidFill>
                  <a:srgbClr val="B8B8C8"/>
                </a:solidFill>
                <a:latin typeface="Helvetica Neue"/>
              </a:rPr>
              <a:t>Human must click — every time, this conversation.</a:t>
            </a:r>
          </a:p>
        </p:txBody>
      </p:sp>
      <p:sp>
        <p:nvSpPr>
          <p:cNvPr id="7" name="TextBox 6"/>
          <p:cNvSpPr txBox="1"/>
          <p:nvPr/>
        </p:nvSpPr>
        <p:spPr>
          <a:xfrm>
            <a:off x="594360" y="5943600"/>
            <a:ext cx="2514600" cy="320040"/>
          </a:xfrm>
          <a:prstGeom prst="rect">
            <a:avLst/>
          </a:prstGeom>
          <a:noFill/>
        </p:spPr>
        <p:txBody>
          <a:bodyPr wrap="square" anchor="t" lIns="0" rIns="0" tIns="0" bIns="0">
            <a:spAutoFit/>
          </a:bodyPr>
          <a:lstStyle/>
          <a:p>
            <a:pPr algn="l"/>
            <a:r>
              <a:rPr sz="1000" b="1" i="1">
                <a:solidFill>
                  <a:srgbClr val="8B5CF6"/>
                </a:solidFill>
                <a:latin typeface="Helvetica Neue"/>
              </a:rPr>
              <a:t>highest-leverage gate</a:t>
            </a:r>
          </a:p>
        </p:txBody>
      </p:sp>
      <p:sp>
        <p:nvSpPr>
          <p:cNvPr id="8" name="Rounded Rectangle 7"/>
          <p:cNvSpPr/>
          <p:nvPr/>
        </p:nvSpPr>
        <p:spPr>
          <a:xfrm>
            <a:off x="3364992" y="1645920"/>
            <a:ext cx="2697480" cy="100584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300" b="1">
                <a:solidFill>
                  <a:srgbClr val="0A0A12"/>
                </a:solidFill>
                <a:latin typeface="Helvetica Neue"/>
              </a:rPr>
              <a:t>TDD MANUAL
CHECKLIST</a:t>
            </a:r>
          </a:p>
        </p:txBody>
      </p:sp>
      <p:sp>
        <p:nvSpPr>
          <p:cNvPr id="9" name="TextBox 8"/>
          <p:cNvSpPr txBox="1"/>
          <p:nvPr/>
        </p:nvSpPr>
        <p:spPr>
          <a:xfrm>
            <a:off x="3456432" y="2788920"/>
            <a:ext cx="2514600" cy="2743200"/>
          </a:xfrm>
          <a:prstGeom prst="rect">
            <a:avLst/>
          </a:prstGeom>
          <a:noFill/>
        </p:spPr>
        <p:txBody>
          <a:bodyPr wrap="square" anchor="t" lIns="0" rIns="0" tIns="0" bIns="0">
            <a:spAutoFit/>
          </a:bodyPr>
          <a:lstStyle/>
          <a:p>
            <a:pPr algn="l"/>
            <a:r>
              <a:rPr sz="1200" b="0" i="0">
                <a:solidFill>
                  <a:srgbClr val="B8B8C8"/>
                </a:solidFill>
                <a:latin typeface="Helvetica Neue"/>
              </a:rPr>
              <a:t>Before flipping `status: done`, parse the issue for `## Manual test checklist`.</a:t>
            </a:r>
          </a:p>
          <a:p>
            <a:pPr algn="l"/>
            <a:r>
              <a:rPr sz="1200" b="0" i="0">
                <a:solidFill>
                  <a:srgbClr val="B8B8C8"/>
                </a:solidFill>
                <a:latin typeface="Helvetica Neue"/>
              </a:rPr>
              <a:t>Unticked items → halt + pass/fail/wait prompt.</a:t>
            </a:r>
          </a:p>
        </p:txBody>
      </p:sp>
      <p:sp>
        <p:nvSpPr>
          <p:cNvPr id="10" name="TextBox 9"/>
          <p:cNvSpPr txBox="1"/>
          <p:nvPr/>
        </p:nvSpPr>
        <p:spPr>
          <a:xfrm>
            <a:off x="3456432" y="5943600"/>
            <a:ext cx="2514600" cy="320040"/>
          </a:xfrm>
          <a:prstGeom prst="rect">
            <a:avLst/>
          </a:prstGeom>
          <a:noFill/>
        </p:spPr>
        <p:txBody>
          <a:bodyPr wrap="square" anchor="t" lIns="0" rIns="0" tIns="0" bIns="0">
            <a:spAutoFit/>
          </a:bodyPr>
          <a:lstStyle/>
          <a:p>
            <a:pPr algn="l"/>
            <a:r>
              <a:rPr sz="1000" b="1" i="1">
                <a:solidFill>
                  <a:srgbClr val="22D3EE"/>
                </a:solidFill>
                <a:latin typeface="Helvetica Neue"/>
              </a:rPr>
              <a:t>real trial caught a UX redesign here</a:t>
            </a:r>
          </a:p>
        </p:txBody>
      </p:sp>
      <p:sp>
        <p:nvSpPr>
          <p:cNvPr id="11" name="Rounded Rectangle 10"/>
          <p:cNvSpPr/>
          <p:nvPr/>
        </p:nvSpPr>
        <p:spPr>
          <a:xfrm>
            <a:off x="6227064" y="1645920"/>
            <a:ext cx="2697480" cy="100584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300" b="1">
                <a:solidFill>
                  <a:srgbClr val="0A0A12"/>
                </a:solidFill>
                <a:latin typeface="Helvetica Neue"/>
              </a:rPr>
              <a:t>MID-STREAM
LOOP-BACK</a:t>
            </a:r>
          </a:p>
        </p:txBody>
      </p:sp>
      <p:sp>
        <p:nvSpPr>
          <p:cNvPr id="12" name="TextBox 11"/>
          <p:cNvSpPr txBox="1"/>
          <p:nvPr/>
        </p:nvSpPr>
        <p:spPr>
          <a:xfrm>
            <a:off x="6318504" y="2788920"/>
            <a:ext cx="2514600" cy="2743200"/>
          </a:xfrm>
          <a:prstGeom prst="rect">
            <a:avLst/>
          </a:prstGeom>
          <a:noFill/>
        </p:spPr>
        <p:txBody>
          <a:bodyPr wrap="square" anchor="t" lIns="0" rIns="0" tIns="0" bIns="0">
            <a:spAutoFit/>
          </a:bodyPr>
          <a:lstStyle/>
          <a:p>
            <a:pPr algn="l"/>
            <a:r>
              <a:rPr sz="1200" b="0" i="0">
                <a:solidFill>
                  <a:srgbClr val="B8B8C8"/>
                </a:solidFill>
                <a:latin typeface="Helvetica Neue"/>
              </a:rPr>
              <a:t>`/valk` watches for change signals at every downstream stage.</a:t>
            </a:r>
          </a:p>
          <a:p>
            <a:pPr algn="l"/>
            <a:r>
              <a:rPr sz="1200" b="0" i="0">
                <a:solidFill>
                  <a:srgbClr val="B8B8C8"/>
                </a:solidFill>
                <a:latin typeface="Helvetica Neue"/>
              </a:rPr>
              <a:t>Detected → single confirm → `valk-revisit` runs.</a:t>
            </a:r>
          </a:p>
          <a:p>
            <a:pPr algn="l"/>
            <a:r>
              <a:rPr sz="1200" b="0" i="0">
                <a:solidFill>
                  <a:srgbClr val="B8B8C8"/>
                </a:solidFill>
                <a:latin typeface="Helvetica Neue"/>
              </a:rPr>
              <a:t>Artifacts amended in place.</a:t>
            </a:r>
          </a:p>
        </p:txBody>
      </p:sp>
      <p:sp>
        <p:nvSpPr>
          <p:cNvPr id="13" name="TextBox 12"/>
          <p:cNvSpPr txBox="1"/>
          <p:nvPr/>
        </p:nvSpPr>
        <p:spPr>
          <a:xfrm>
            <a:off x="6318504" y="5943600"/>
            <a:ext cx="2514600" cy="320040"/>
          </a:xfrm>
          <a:prstGeom prst="rect">
            <a:avLst/>
          </a:prstGeom>
          <a:noFill/>
        </p:spPr>
        <p:txBody>
          <a:bodyPr wrap="square" anchor="t" lIns="0" rIns="0" tIns="0" bIns="0">
            <a:spAutoFit/>
          </a:bodyPr>
          <a:lstStyle/>
          <a:p>
            <a:pPr algn="l"/>
            <a:r>
              <a:rPr sz="1000" b="1" i="1">
                <a:solidFill>
                  <a:srgbClr val="10B981"/>
                </a:solidFill>
                <a:latin typeface="Helvetica Neue"/>
              </a:rPr>
              <a:t>TDD never `rm`s tests</a:t>
            </a:r>
          </a:p>
        </p:txBody>
      </p:sp>
      <p:sp>
        <p:nvSpPr>
          <p:cNvPr id="14" name="Rounded Rectangle 13"/>
          <p:cNvSpPr/>
          <p:nvPr/>
        </p:nvSpPr>
        <p:spPr>
          <a:xfrm>
            <a:off x="9089136" y="1645920"/>
            <a:ext cx="2697480" cy="100584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300" b="1">
                <a:solidFill>
                  <a:srgbClr val="0A0A12"/>
                </a:solidFill>
                <a:latin typeface="Helvetica Neue"/>
              </a:rPr>
              <a:t>HANDOFF
ROUTING</a:t>
            </a:r>
          </a:p>
        </p:txBody>
      </p:sp>
      <p:sp>
        <p:nvSpPr>
          <p:cNvPr id="15" name="TextBox 14"/>
          <p:cNvSpPr txBox="1"/>
          <p:nvPr/>
        </p:nvSpPr>
        <p:spPr>
          <a:xfrm>
            <a:off x="9180576" y="2788920"/>
            <a:ext cx="2514600" cy="2743200"/>
          </a:xfrm>
          <a:prstGeom prst="rect">
            <a:avLst/>
          </a:prstGeom>
          <a:noFill/>
        </p:spPr>
        <p:txBody>
          <a:bodyPr wrap="square" anchor="t" lIns="0" rIns="0" tIns="0" bIns="0">
            <a:spAutoFit/>
          </a:bodyPr>
          <a:lstStyle/>
          <a:p>
            <a:pPr algn="l"/>
            <a:r>
              <a:rPr sz="1200" b="0" i="0">
                <a:solidFill>
                  <a:srgbClr val="B8B8C8"/>
                </a:solidFill>
                <a:latin typeface="Helvetica Neue"/>
              </a:rPr>
              <a:t>If the user `/handoff`s mid-flow, the doc MUST instruct: "Run /valk first."</a:t>
            </a:r>
          </a:p>
          <a:p>
            <a:pPr algn="l"/>
            <a:r>
              <a:rPr sz="1200" b="0" i="0">
                <a:solidFill>
                  <a:srgbClr val="B8B8C8"/>
                </a:solidFill>
                <a:latin typeface="Helvetica Neue"/>
              </a:rPr>
              <a:t>Never script direct skill invocations.</a:t>
            </a:r>
          </a:p>
        </p:txBody>
      </p:sp>
      <p:sp>
        <p:nvSpPr>
          <p:cNvPr id="16" name="TextBox 15"/>
          <p:cNvSpPr txBox="1"/>
          <p:nvPr/>
        </p:nvSpPr>
        <p:spPr>
          <a:xfrm>
            <a:off x="9180576" y="5943600"/>
            <a:ext cx="2514600" cy="320040"/>
          </a:xfrm>
          <a:prstGeom prst="rect">
            <a:avLst/>
          </a:prstGeom>
          <a:noFill/>
        </p:spPr>
        <p:txBody>
          <a:bodyPr wrap="square" anchor="t" lIns="0" rIns="0" tIns="0" bIns="0">
            <a:spAutoFit/>
          </a:bodyPr>
          <a:lstStyle/>
          <a:p>
            <a:pPr algn="l"/>
            <a:r>
              <a:rPr sz="1000" b="1" i="1">
                <a:solidFill>
                  <a:srgbClr val="F59E0B"/>
                </a:solidFill>
                <a:latin typeface="Helvetica Neue"/>
              </a:rPr>
              <a:t>stops silent gate-skipping</a:t>
            </a:r>
          </a:p>
        </p:txBody>
      </p:sp>
      <p:sp>
        <p:nvSpPr>
          <p:cNvPr id="17" name="TextBox 1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Four explicit gates — each refusable, each humanly enforceable.</a:t>
            </a:r>
          </a:p>
        </p:txBody>
      </p:sp>
      <p:sp>
        <p:nvSpPr>
          <p:cNvPr id="18" name="TextBox 1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AUTONOMOUS LOOP, HARDENED</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AFK — what Valkyrie added on top of Ralph.</a:t>
            </a:r>
          </a:p>
        </p:txBody>
      </p:sp>
      <p:sp>
        <p:nvSpPr>
          <p:cNvPr id="5" name="TextBox 4"/>
          <p:cNvSpPr txBox="1"/>
          <p:nvPr/>
        </p:nvSpPr>
        <p:spPr>
          <a:xfrm>
            <a:off x="640080" y="1554480"/>
            <a:ext cx="5486400" cy="5029200"/>
          </a:xfrm>
          <a:prstGeom prst="rect">
            <a:avLst/>
          </a:prstGeom>
          <a:noFill/>
        </p:spPr>
        <p:txBody>
          <a:bodyPr wrap="square" lIns="0" rIns="0" tIns="0" bIns="0">
            <a:spAutoFit/>
          </a:bodyPr>
          <a:lstStyle/>
          <a:p>
            <a:pPr algn="l">
              <a:lnSpc>
                <a:spcPct val="140000"/>
              </a:lnSpc>
            </a:pPr>
            <a:r>
              <a:rPr sz="1500" b="1">
                <a:solidFill>
                  <a:srgbClr val="22D3EE"/>
                </a:solidFill>
                <a:latin typeface="Helvetica Neue"/>
              </a:rPr>
              <a:t> ▸ </a:t>
            </a:r>
            <a:r>
              <a:rPr sz="1500">
                <a:solidFill>
                  <a:srgbClr val="B8B8C8"/>
                </a:solidFill>
                <a:latin typeface="Helvetica Neue"/>
              </a:rPr>
              <a:t>Three `--cli` backends: claude, codex, copilot.</a:t>
            </a:r>
          </a:p>
          <a:p>
            <a:pPr algn="l">
              <a:lnSpc>
                <a:spcPct val="140000"/>
              </a:lnSpc>
            </a:pPr>
            <a:r>
              <a:rPr sz="1500" b="1">
                <a:solidFill>
                  <a:srgbClr val="22D3EE"/>
                </a:solidFill>
                <a:latin typeface="Helvetica Neue"/>
              </a:rPr>
              <a:t> ▸ </a:t>
            </a:r>
            <a:r>
              <a:rPr sz="1500">
                <a:solidFill>
                  <a:srgbClr val="B8B8C8"/>
                </a:solidFill>
                <a:latin typeface="Helvetica Neue"/>
              </a:rPr>
              <a:t>Each CLI uses its own login — afk never handles API keys.</a:t>
            </a:r>
          </a:p>
          <a:p>
            <a:pPr algn="l">
              <a:lnSpc>
                <a:spcPct val="140000"/>
              </a:lnSpc>
            </a:pPr>
            <a:r>
              <a:rPr sz="1500" b="1">
                <a:solidFill>
                  <a:srgbClr val="22D3EE"/>
                </a:solidFill>
                <a:latin typeface="Helvetica Neue"/>
              </a:rPr>
              <a:t> ▸ </a:t>
            </a:r>
            <a:r>
              <a:rPr sz="1500">
                <a:solidFill>
                  <a:srgbClr val="B8B8C8"/>
                </a:solidFill>
                <a:latin typeface="Helvetica Neue"/>
              </a:rPr>
              <a:t>Real cost tracking for codex via `codex exec --json` + OpenAI rates.</a:t>
            </a:r>
          </a:p>
          <a:p>
            <a:pPr algn="l">
              <a:lnSpc>
                <a:spcPct val="140000"/>
              </a:lnSpc>
            </a:pPr>
            <a:r>
              <a:rPr sz="1500" b="1">
                <a:solidFill>
                  <a:srgbClr val="22D3EE"/>
                </a:solidFill>
                <a:latin typeface="Helvetica Neue"/>
              </a:rPr>
              <a:t> ▸ </a:t>
            </a:r>
            <a:r>
              <a:rPr sz="1500">
                <a:solidFill>
                  <a:srgbClr val="B8B8C8"/>
                </a:solidFill>
                <a:latin typeface="Helvetica Neue"/>
              </a:rPr>
              <a:t>Budget caps in every dimension: --max-hours, --max-cost-usd, iter count.</a:t>
            </a:r>
          </a:p>
          <a:p>
            <a:pPr algn="l">
              <a:lnSpc>
                <a:spcPct val="140000"/>
              </a:lnSpc>
            </a:pPr>
            <a:r>
              <a:rPr sz="1500" b="1">
                <a:solidFill>
                  <a:srgbClr val="22D3EE"/>
                </a:solidFill>
                <a:latin typeface="Helvetica Neue"/>
              </a:rPr>
              <a:t> ▸ </a:t>
            </a:r>
            <a:r>
              <a:rPr sz="1500">
                <a:solidFill>
                  <a:srgbClr val="B8B8C8"/>
                </a:solidFill>
                <a:latin typeface="Helvetica Neue"/>
              </a:rPr>
              <a:t>Closed-stdin abort = deliberate safety guard against accidental launches.</a:t>
            </a:r>
          </a:p>
        </p:txBody>
      </p:sp>
      <p:sp>
        <p:nvSpPr>
          <p:cNvPr id="6" name="TextBox 5"/>
          <p:cNvSpPr txBox="1"/>
          <p:nvPr/>
        </p:nvSpPr>
        <p:spPr>
          <a:xfrm>
            <a:off x="6400800" y="1554480"/>
            <a:ext cx="5486400" cy="5029200"/>
          </a:xfrm>
          <a:prstGeom prst="rect">
            <a:avLst/>
          </a:prstGeom>
          <a:noFill/>
        </p:spPr>
        <p:txBody>
          <a:bodyPr wrap="square" lIns="0" rIns="0" tIns="0" bIns="0">
            <a:spAutoFit/>
          </a:bodyPr>
          <a:lstStyle/>
          <a:p>
            <a:pPr algn="l">
              <a:lnSpc>
                <a:spcPct val="140000"/>
              </a:lnSpc>
            </a:pPr>
            <a:r>
              <a:rPr sz="1500" b="1">
                <a:solidFill>
                  <a:srgbClr val="22D3EE"/>
                </a:solidFill>
                <a:latin typeface="Helvetica Neue"/>
              </a:rPr>
              <a:t> ▸ </a:t>
            </a:r>
            <a:r>
              <a:rPr sz="1500">
                <a:solidFill>
                  <a:srgbClr val="B8B8C8"/>
                </a:solidFill>
                <a:latin typeface="Helvetica Neue"/>
              </a:rPr>
              <a:t>Escalation ladder: sonnet → opus on failure (default-on, claude only).</a:t>
            </a:r>
          </a:p>
          <a:p>
            <a:pPr algn="l">
              <a:lnSpc>
                <a:spcPct val="140000"/>
              </a:lnSpc>
            </a:pPr>
            <a:r>
              <a:rPr sz="1500" b="1">
                <a:solidFill>
                  <a:srgbClr val="22D3EE"/>
                </a:solidFill>
                <a:latin typeface="Helvetica Neue"/>
              </a:rPr>
              <a:t> ▸ </a:t>
            </a:r>
            <a:r>
              <a:rPr sz="1500">
                <a:solidFill>
                  <a:srgbClr val="B8B8C8"/>
                </a:solidFill>
                <a:latin typeface="Helvetica Neue"/>
              </a:rPr>
              <a:t>Non-claude cost-parse miss is non-fatal — never kills the loop.</a:t>
            </a:r>
          </a:p>
          <a:p>
            <a:pPr algn="l">
              <a:lnSpc>
                <a:spcPct val="140000"/>
              </a:lnSpc>
            </a:pPr>
            <a:r>
              <a:rPr sz="1500" b="1">
                <a:solidFill>
                  <a:srgbClr val="22D3EE"/>
                </a:solidFill>
                <a:latin typeface="Helvetica Neue"/>
              </a:rPr>
              <a:t> ▸ </a:t>
            </a:r>
            <a:r>
              <a:rPr sz="1500">
                <a:solidFill>
                  <a:srgbClr val="B8B8C8"/>
                </a:solidFill>
                <a:latin typeface="Helvetica Neue"/>
              </a:rPr>
              <a:t>Per-iteration cost CSV: `.claude/valk/afk-cost-history.csv`.</a:t>
            </a:r>
          </a:p>
          <a:p>
            <a:pPr algn="l">
              <a:lnSpc>
                <a:spcPct val="140000"/>
              </a:lnSpc>
            </a:pPr>
            <a:r>
              <a:rPr sz="1500" b="1">
                <a:solidFill>
                  <a:srgbClr val="22D3EE"/>
                </a:solidFill>
                <a:latin typeface="Helvetica Neue"/>
              </a:rPr>
              <a:t> ▸ </a:t>
            </a:r>
            <a:r>
              <a:rPr sz="1500">
                <a:solidFill>
                  <a:srgbClr val="B8B8C8"/>
                </a:solidFill>
                <a:latin typeface="Helvetica Neue"/>
              </a:rPr>
              <a:t>Per-iteration log files: `.claude/valk/afk-logs/`.</a:t>
            </a:r>
          </a:p>
          <a:p>
            <a:pPr algn="l">
              <a:lnSpc>
                <a:spcPct val="140000"/>
              </a:lnSpc>
            </a:pPr>
            <a:r>
              <a:rPr sz="1500" b="1">
                <a:solidFill>
                  <a:srgbClr val="22D3EE"/>
                </a:solidFill>
                <a:latin typeface="Helvetica Neue"/>
              </a:rPr>
              <a:t> ▸ </a:t>
            </a:r>
            <a:r>
              <a:rPr sz="1500">
                <a:solidFill>
                  <a:srgbClr val="B8B8C8"/>
                </a:solidFill>
                <a:latin typeface="Helvetica Neue"/>
              </a:rPr>
              <a:t>Confirmation queue printed up-front: caps, queue order, dependency reasoning.</a:t>
            </a:r>
          </a:p>
          <a:p>
            <a:pPr algn="l">
              <a:lnSpc>
                <a:spcPct val="140000"/>
              </a:lnSpc>
            </a:pPr>
            <a:r>
              <a:rPr sz="1500" b="1">
                <a:solidFill>
                  <a:srgbClr val="22D3EE"/>
                </a:solidFill>
                <a:latin typeface="Helvetica Neue"/>
              </a:rPr>
              <a:t> ▸ </a:t>
            </a:r>
            <a:r>
              <a:rPr sz="1500">
                <a:solidFill>
                  <a:srgbClr val="B8B8C8"/>
                </a:solidFill>
                <a:latin typeface="Helvetica Neue"/>
              </a:rPr>
              <a:t>`!afk N` (user-driven) vs `afk N --no-confirm` (Claude-launched).</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Same Ralph idea; now with budgets, telemetry, and three model providers.</a:t>
            </a:r>
          </a:p>
        </p:txBody>
      </p:sp>
      <p:sp>
        <p:nvSpPr>
          <p:cNvPr id="8" name="TextBox 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18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COST DISCIPLINE</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Model tier follows leverage, not code volume.</a:t>
            </a:r>
          </a:p>
        </p:txBody>
      </p:sp>
      <p:sp>
        <p:nvSpPr>
          <p:cNvPr id="5" name="TextBox 4"/>
          <p:cNvSpPr txBox="1"/>
          <p:nvPr/>
        </p:nvSpPr>
        <p:spPr>
          <a:xfrm>
            <a:off x="640080" y="1737360"/>
            <a:ext cx="3108960" cy="365760"/>
          </a:xfrm>
          <a:prstGeom prst="rect">
            <a:avLst/>
          </a:prstGeom>
          <a:noFill/>
        </p:spPr>
        <p:txBody>
          <a:bodyPr wrap="square" anchor="t" lIns="0" rIns="0" tIns="0" bIns="0">
            <a:spAutoFit/>
          </a:bodyPr>
          <a:lstStyle/>
          <a:p>
            <a:pPr algn="l"/>
            <a:r>
              <a:rPr sz="1100" b="1" i="0">
                <a:solidFill>
                  <a:srgbClr val="0E7490"/>
                </a:solidFill>
                <a:latin typeface="Helvetica Neue"/>
              </a:rPr>
              <a:t>STAGE</a:t>
            </a:r>
          </a:p>
        </p:txBody>
      </p:sp>
      <p:sp>
        <p:nvSpPr>
          <p:cNvPr id="6" name="TextBox 5"/>
          <p:cNvSpPr txBox="1"/>
          <p:nvPr/>
        </p:nvSpPr>
        <p:spPr>
          <a:xfrm>
            <a:off x="4206240" y="1737360"/>
            <a:ext cx="2194560" cy="365760"/>
          </a:xfrm>
          <a:prstGeom prst="rect">
            <a:avLst/>
          </a:prstGeom>
          <a:noFill/>
        </p:spPr>
        <p:txBody>
          <a:bodyPr wrap="square" anchor="t" lIns="0" rIns="0" tIns="0" bIns="0">
            <a:spAutoFit/>
          </a:bodyPr>
          <a:lstStyle/>
          <a:p>
            <a:pPr algn="l"/>
            <a:r>
              <a:rPr sz="1100" b="1" i="0">
                <a:solidFill>
                  <a:srgbClr val="0E7490"/>
                </a:solidFill>
                <a:latin typeface="Helvetica Neue"/>
              </a:rPr>
              <a:t>TIER</a:t>
            </a:r>
          </a:p>
        </p:txBody>
      </p:sp>
      <p:sp>
        <p:nvSpPr>
          <p:cNvPr id="7" name="TextBox 6"/>
          <p:cNvSpPr txBox="1"/>
          <p:nvPr/>
        </p:nvSpPr>
        <p:spPr>
          <a:xfrm>
            <a:off x="6766560" y="1737360"/>
            <a:ext cx="4937760" cy="365760"/>
          </a:xfrm>
          <a:prstGeom prst="rect">
            <a:avLst/>
          </a:prstGeom>
          <a:noFill/>
        </p:spPr>
        <p:txBody>
          <a:bodyPr wrap="square" anchor="t" lIns="0" rIns="0" tIns="0" bIns="0">
            <a:spAutoFit/>
          </a:bodyPr>
          <a:lstStyle/>
          <a:p>
            <a:pPr algn="l"/>
            <a:r>
              <a:rPr sz="1100" b="1" i="0">
                <a:solidFill>
                  <a:srgbClr val="0E7490"/>
                </a:solidFill>
                <a:latin typeface="Helvetica Neue"/>
              </a:rPr>
              <a:t>WHY</a:t>
            </a:r>
          </a:p>
        </p:txBody>
      </p:sp>
      <p:sp>
        <p:nvSpPr>
          <p:cNvPr id="8" name="Rounded Rectangle 7"/>
          <p:cNvSpPr/>
          <p:nvPr/>
        </p:nvSpPr>
        <p:spPr>
          <a:xfrm>
            <a:off x="640080" y="2011680"/>
            <a:ext cx="3291840" cy="777240"/>
          </a:xfrm>
          <a:prstGeom prst="roundRect">
            <a:avLst>
              <a:gd name="adj" fmla="val 15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DESIGN / PRD / ISSUES</a:t>
            </a:r>
          </a:p>
        </p:txBody>
      </p:sp>
      <p:sp>
        <p:nvSpPr>
          <p:cNvPr id="9" name="Rounded Rectangle 8"/>
          <p:cNvSpPr/>
          <p:nvPr/>
        </p:nvSpPr>
        <p:spPr>
          <a:xfrm>
            <a:off x="4114800" y="2011680"/>
            <a:ext cx="2377440" cy="777240"/>
          </a:xfrm>
          <a:prstGeom prst="roundRect">
            <a:avLst>
              <a:gd name="adj" fmla="val 15000"/>
            </a:avLst>
          </a:prstGeom>
          <a:solidFill>
            <a:srgbClr val="161622"/>
          </a:solidFill>
          <a:ln w="12700">
            <a:solidFill>
              <a:srgbClr val="333342"/>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FFFFFF"/>
                </a:solidFill>
                <a:latin typeface="Helvetica Neue"/>
              </a:rPr>
              <a:t>strongest tier</a:t>
            </a:r>
          </a:p>
        </p:txBody>
      </p:sp>
      <p:sp>
        <p:nvSpPr>
          <p:cNvPr id="10" name="TextBox 9"/>
          <p:cNvSpPr txBox="1"/>
          <p:nvPr/>
        </p:nvSpPr>
        <p:spPr>
          <a:xfrm>
            <a:off x="6675120" y="2176272"/>
            <a:ext cx="5029200" cy="548640"/>
          </a:xfrm>
          <a:prstGeom prst="rect">
            <a:avLst/>
          </a:prstGeom>
          <a:noFill/>
        </p:spPr>
        <p:txBody>
          <a:bodyPr wrap="square" anchor="t" lIns="0" rIns="0" tIns="0" bIns="0">
            <a:spAutoFit/>
          </a:bodyPr>
          <a:lstStyle/>
          <a:p>
            <a:pPr algn="l"/>
            <a:r>
              <a:rPr sz="1200" b="0" i="0">
                <a:solidFill>
                  <a:srgbClr val="B8B8C8"/>
                </a:solidFill>
                <a:latin typeface="Helvetica Neue"/>
              </a:rPr>
              <a:t>broad context · judgment · refusal to settle for fuzzy answers</a:t>
            </a:r>
          </a:p>
        </p:txBody>
      </p:sp>
      <p:sp>
        <p:nvSpPr>
          <p:cNvPr id="11" name="Rounded Rectangle 10"/>
          <p:cNvSpPr/>
          <p:nvPr/>
        </p:nvSpPr>
        <p:spPr>
          <a:xfrm>
            <a:off x="640080" y="2971800"/>
            <a:ext cx="3291840" cy="77724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TDD</a:t>
            </a:r>
          </a:p>
        </p:txBody>
      </p:sp>
      <p:sp>
        <p:nvSpPr>
          <p:cNvPr id="12" name="Rounded Rectangle 11"/>
          <p:cNvSpPr/>
          <p:nvPr/>
        </p:nvSpPr>
        <p:spPr>
          <a:xfrm>
            <a:off x="4114800" y="2971800"/>
            <a:ext cx="2377440" cy="777240"/>
          </a:xfrm>
          <a:prstGeom prst="roundRect">
            <a:avLst>
              <a:gd name="adj" fmla="val 15000"/>
            </a:avLst>
          </a:prstGeom>
          <a:solidFill>
            <a:srgbClr val="161622"/>
          </a:solidFill>
          <a:ln w="12700">
            <a:solidFill>
              <a:srgbClr val="333342"/>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FFFFFF"/>
                </a:solidFill>
                <a:latin typeface="Helvetica Neue"/>
              </a:rPr>
              <a:t>sonnet</a:t>
            </a:r>
          </a:p>
        </p:txBody>
      </p:sp>
      <p:sp>
        <p:nvSpPr>
          <p:cNvPr id="13" name="TextBox 12"/>
          <p:cNvSpPr txBox="1"/>
          <p:nvPr/>
        </p:nvSpPr>
        <p:spPr>
          <a:xfrm>
            <a:off x="6675120" y="3136392"/>
            <a:ext cx="5029200" cy="548640"/>
          </a:xfrm>
          <a:prstGeom prst="rect">
            <a:avLst/>
          </a:prstGeom>
          <a:noFill/>
        </p:spPr>
        <p:txBody>
          <a:bodyPr wrap="square" anchor="t" lIns="0" rIns="0" tIns="0" bIns="0">
            <a:spAutoFit/>
          </a:bodyPr>
          <a:lstStyle/>
          <a:p>
            <a:pPr algn="l"/>
            <a:r>
              <a:rPr sz="1200" b="0" i="0">
                <a:solidFill>
                  <a:srgbClr val="B8B8C8"/>
                </a:solidFill>
                <a:latin typeface="Helvetica Neue"/>
              </a:rPr>
              <a:t>pattern-matching against a clear spec; escalation ladder starts here</a:t>
            </a:r>
          </a:p>
        </p:txBody>
      </p:sp>
      <p:sp>
        <p:nvSpPr>
          <p:cNvPr id="14" name="Rounded Rectangle 13"/>
          <p:cNvSpPr/>
          <p:nvPr/>
        </p:nvSpPr>
        <p:spPr>
          <a:xfrm>
            <a:off x="640080" y="3931920"/>
            <a:ext cx="3291840" cy="77724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Delegated reads / QA</a:t>
            </a:r>
          </a:p>
        </p:txBody>
      </p:sp>
      <p:sp>
        <p:nvSpPr>
          <p:cNvPr id="15" name="Rounded Rectangle 14"/>
          <p:cNvSpPr/>
          <p:nvPr/>
        </p:nvSpPr>
        <p:spPr>
          <a:xfrm>
            <a:off x="4114800" y="3931920"/>
            <a:ext cx="2377440" cy="777240"/>
          </a:xfrm>
          <a:prstGeom prst="roundRect">
            <a:avLst>
              <a:gd name="adj" fmla="val 15000"/>
            </a:avLst>
          </a:prstGeom>
          <a:solidFill>
            <a:srgbClr val="161622"/>
          </a:solidFill>
          <a:ln w="12700">
            <a:solidFill>
              <a:srgbClr val="333342"/>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FFFFFF"/>
                </a:solidFill>
                <a:latin typeface="Helvetica Neue"/>
              </a:rPr>
              <a:t>haiku</a:t>
            </a:r>
          </a:p>
        </p:txBody>
      </p:sp>
      <p:sp>
        <p:nvSpPr>
          <p:cNvPr id="16" name="TextBox 15"/>
          <p:cNvSpPr txBox="1"/>
          <p:nvPr/>
        </p:nvSpPr>
        <p:spPr>
          <a:xfrm>
            <a:off x="6675120" y="4096511"/>
            <a:ext cx="5029200" cy="548640"/>
          </a:xfrm>
          <a:prstGeom prst="rect">
            <a:avLst/>
          </a:prstGeom>
          <a:noFill/>
        </p:spPr>
        <p:txBody>
          <a:bodyPr wrap="square" anchor="t" lIns="0" rIns="0" tIns="0" bIns="0">
            <a:spAutoFit/>
          </a:bodyPr>
          <a:lstStyle/>
          <a:p>
            <a:pPr algn="l"/>
            <a:r>
              <a:rPr sz="1200" b="0" i="0">
                <a:solidFill>
                  <a:srgbClr val="B8B8C8"/>
                </a:solidFill>
                <a:latin typeface="Helvetica Neue"/>
              </a:rPr>
              <a:t>single-task agents on short investigations</a:t>
            </a:r>
          </a:p>
        </p:txBody>
      </p:sp>
      <p:sp>
        <p:nvSpPr>
          <p:cNvPr id="17" name="Rounded Rectangle 16"/>
          <p:cNvSpPr/>
          <p:nvPr/>
        </p:nvSpPr>
        <p:spPr>
          <a:xfrm>
            <a:off x="640080" y="5212080"/>
            <a:ext cx="10972800" cy="960120"/>
          </a:xfrm>
          <a:prstGeom prst="roundRect">
            <a:avLst>
              <a:gd name="adj" fmla="val 8000"/>
            </a:avLst>
          </a:prstGeom>
          <a:no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349240"/>
            <a:ext cx="914400" cy="365760"/>
          </a:xfrm>
          <a:prstGeom prst="rect">
            <a:avLst/>
          </a:prstGeom>
          <a:noFill/>
        </p:spPr>
        <p:txBody>
          <a:bodyPr wrap="square" anchor="t" lIns="0" rIns="0" tIns="0" bIns="0">
            <a:spAutoFit/>
          </a:bodyPr>
          <a:lstStyle/>
          <a:p>
            <a:pPr algn="l"/>
            <a:r>
              <a:rPr sz="2200" b="0" i="0">
                <a:solidFill>
                  <a:srgbClr val="F43F5E"/>
                </a:solidFill>
                <a:latin typeface="Helvetica Neue"/>
              </a:rPr>
              <a:t>⚠</a:t>
            </a:r>
          </a:p>
        </p:txBody>
      </p:sp>
      <p:sp>
        <p:nvSpPr>
          <p:cNvPr id="19" name="TextBox 18"/>
          <p:cNvSpPr txBox="1"/>
          <p:nvPr/>
        </p:nvSpPr>
        <p:spPr>
          <a:xfrm>
            <a:off x="1371600" y="5285232"/>
            <a:ext cx="10058400" cy="457200"/>
          </a:xfrm>
          <a:prstGeom prst="rect">
            <a:avLst/>
          </a:prstGeom>
          <a:noFill/>
        </p:spPr>
        <p:txBody>
          <a:bodyPr wrap="square" anchor="t" lIns="0" rIns="0" tIns="0" bIns="0">
            <a:spAutoFit/>
          </a:bodyPr>
          <a:lstStyle/>
          <a:p>
            <a:pPr algn="l"/>
            <a:r>
              <a:rPr sz="1400" b="1" i="0">
                <a:solidFill>
                  <a:srgbClr val="F43F5E"/>
                </a:solidFill>
                <a:latin typeface="Helvetica Neue"/>
              </a:rPr>
              <a:t>Anti-pattern: "no code in this stage = cheap model."</a:t>
            </a:r>
          </a:p>
        </p:txBody>
      </p:sp>
      <p:sp>
        <p:nvSpPr>
          <p:cNvPr id="20" name="TextBox 19"/>
          <p:cNvSpPr txBox="1"/>
          <p:nvPr/>
        </p:nvSpPr>
        <p:spPr>
          <a:xfrm>
            <a:off x="1371600" y="5650992"/>
            <a:ext cx="10058400" cy="457200"/>
          </a:xfrm>
          <a:prstGeom prst="rect">
            <a:avLst/>
          </a:prstGeom>
          <a:noFill/>
        </p:spPr>
        <p:txBody>
          <a:bodyPr wrap="square" anchor="t" lIns="0" rIns="0" tIns="0" bIns="0">
            <a:spAutoFit/>
          </a:bodyPr>
          <a:lstStyle/>
          <a:p>
            <a:pPr algn="l"/>
            <a:r>
              <a:rPr sz="1200" b="0" i="0">
                <a:solidFill>
                  <a:srgbClr val="B8B8C8"/>
                </a:solidFill>
                <a:latin typeface="Helvetica Neue"/>
              </a:rPr>
              <a:t>Inverts the leverage. Cost of a bad plan dwarfs the cost of a strong model on the conversation that produces it.</a:t>
            </a:r>
          </a:p>
        </p:txBody>
      </p:sp>
      <p:sp>
        <p:nvSpPr>
          <p:cNvPr id="21" name="TextBox 20"/>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Was internally contradictory in the SKILL.md before this fix.</a:t>
            </a:r>
          </a:p>
        </p:txBody>
      </p:sp>
      <p:sp>
        <p:nvSpPr>
          <p:cNvPr id="22" name="TextBox 21"/>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19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PROGRESSIVE ENHANCEMENT</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The optional docs.</a:t>
            </a:r>
          </a:p>
        </p:txBody>
      </p:sp>
      <p:sp>
        <p:nvSpPr>
          <p:cNvPr id="5" name="TextBox 4"/>
          <p:cNvSpPr txBox="1"/>
          <p:nvPr/>
        </p:nvSpPr>
        <p:spPr>
          <a:xfrm>
            <a:off x="640080" y="1691640"/>
            <a:ext cx="1463040" cy="320040"/>
          </a:xfrm>
          <a:prstGeom prst="rect">
            <a:avLst/>
          </a:prstGeom>
          <a:noFill/>
        </p:spPr>
        <p:txBody>
          <a:bodyPr wrap="square" anchor="t" lIns="0" rIns="0" tIns="0" bIns="0">
            <a:spAutoFit/>
          </a:bodyPr>
          <a:lstStyle/>
          <a:p>
            <a:pPr algn="l"/>
            <a:r>
              <a:rPr sz="1100" b="1" i="0">
                <a:solidFill>
                  <a:srgbClr val="0E7490"/>
                </a:solidFill>
                <a:latin typeface="Helvetica Neue"/>
              </a:rPr>
              <a:t>DOC</a:t>
            </a:r>
          </a:p>
        </p:txBody>
      </p:sp>
      <p:sp>
        <p:nvSpPr>
          <p:cNvPr id="6" name="TextBox 5"/>
          <p:cNvSpPr txBox="1"/>
          <p:nvPr/>
        </p:nvSpPr>
        <p:spPr>
          <a:xfrm>
            <a:off x="2194560" y="1691640"/>
            <a:ext cx="3657600" cy="320040"/>
          </a:xfrm>
          <a:prstGeom prst="rect">
            <a:avLst/>
          </a:prstGeom>
          <a:noFill/>
        </p:spPr>
        <p:txBody>
          <a:bodyPr wrap="square" anchor="t" lIns="0" rIns="0" tIns="0" bIns="0">
            <a:spAutoFit/>
          </a:bodyPr>
          <a:lstStyle/>
          <a:p>
            <a:pPr algn="l"/>
            <a:r>
              <a:rPr sz="1100" b="1" i="0">
                <a:solidFill>
                  <a:srgbClr val="0E7490"/>
                </a:solidFill>
                <a:latin typeface="Helvetica Neue"/>
              </a:rPr>
              <a:t>FILE</a:t>
            </a:r>
          </a:p>
        </p:txBody>
      </p:sp>
      <p:sp>
        <p:nvSpPr>
          <p:cNvPr id="7" name="TextBox 6"/>
          <p:cNvSpPr txBox="1"/>
          <p:nvPr/>
        </p:nvSpPr>
        <p:spPr>
          <a:xfrm>
            <a:off x="5943600" y="1691640"/>
            <a:ext cx="1645920" cy="320040"/>
          </a:xfrm>
          <a:prstGeom prst="rect">
            <a:avLst/>
          </a:prstGeom>
          <a:noFill/>
        </p:spPr>
        <p:txBody>
          <a:bodyPr wrap="square" anchor="t" lIns="0" rIns="0" tIns="0" bIns="0">
            <a:spAutoFit/>
          </a:bodyPr>
          <a:lstStyle/>
          <a:p>
            <a:pPr algn="l"/>
            <a:r>
              <a:rPr sz="1100" b="1" i="0">
                <a:solidFill>
                  <a:srgbClr val="0E7490"/>
                </a:solidFill>
                <a:latin typeface="Helvetica Neue"/>
              </a:rPr>
              <a:t>SCOPE</a:t>
            </a:r>
          </a:p>
        </p:txBody>
      </p:sp>
      <p:sp>
        <p:nvSpPr>
          <p:cNvPr id="8" name="TextBox 7"/>
          <p:cNvSpPr txBox="1"/>
          <p:nvPr/>
        </p:nvSpPr>
        <p:spPr>
          <a:xfrm>
            <a:off x="7772400" y="1691640"/>
            <a:ext cx="3931920" cy="320040"/>
          </a:xfrm>
          <a:prstGeom prst="rect">
            <a:avLst/>
          </a:prstGeom>
          <a:noFill/>
        </p:spPr>
        <p:txBody>
          <a:bodyPr wrap="square" anchor="t" lIns="0" rIns="0" tIns="0" bIns="0">
            <a:spAutoFit/>
          </a:bodyPr>
          <a:lstStyle/>
          <a:p>
            <a:pPr algn="l"/>
            <a:r>
              <a:rPr sz="1100" b="1" i="0">
                <a:solidFill>
                  <a:srgbClr val="0E7490"/>
                </a:solidFill>
                <a:latin typeface="Helvetica Neue"/>
              </a:rPr>
              <a:t>HOLDS</a:t>
            </a:r>
          </a:p>
        </p:txBody>
      </p:sp>
      <p:sp>
        <p:nvSpPr>
          <p:cNvPr id="9" name="Rounded Rectangle 8"/>
          <p:cNvSpPr/>
          <p:nvPr/>
        </p:nvSpPr>
        <p:spPr>
          <a:xfrm>
            <a:off x="640080" y="2057400"/>
            <a:ext cx="1463040" cy="548640"/>
          </a:xfrm>
          <a:prstGeom prst="roundRect">
            <a:avLst>
              <a:gd name="adj" fmla="val 15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INTENT</a:t>
            </a:r>
          </a:p>
        </p:txBody>
      </p:sp>
      <p:sp>
        <p:nvSpPr>
          <p:cNvPr id="10" name="TextBox 9"/>
          <p:cNvSpPr txBox="1"/>
          <p:nvPr/>
        </p:nvSpPr>
        <p:spPr>
          <a:xfrm>
            <a:off x="2194560" y="2203704"/>
            <a:ext cx="3657600" cy="365760"/>
          </a:xfrm>
          <a:prstGeom prst="rect">
            <a:avLst/>
          </a:prstGeom>
          <a:noFill/>
        </p:spPr>
        <p:txBody>
          <a:bodyPr wrap="square" anchor="t" lIns="0" rIns="0" tIns="0" bIns="0">
            <a:spAutoFit/>
          </a:bodyPr>
          <a:lstStyle/>
          <a:p>
            <a:pPr algn="l"/>
            <a:r>
              <a:rPr sz="1100" b="0" i="0">
                <a:solidFill>
                  <a:srgbClr val="FFFFFF"/>
                </a:solidFill>
                <a:latin typeface="Menlo"/>
              </a:rPr>
              <a:t>docs/intent/&lt;slug&gt;.md</a:t>
            </a:r>
          </a:p>
        </p:txBody>
      </p:sp>
      <p:sp>
        <p:nvSpPr>
          <p:cNvPr id="11" name="TextBox 10"/>
          <p:cNvSpPr txBox="1"/>
          <p:nvPr/>
        </p:nvSpPr>
        <p:spPr>
          <a:xfrm>
            <a:off x="5943600" y="2203704"/>
            <a:ext cx="1645920" cy="365760"/>
          </a:xfrm>
          <a:prstGeom prst="rect">
            <a:avLst/>
          </a:prstGeom>
          <a:noFill/>
        </p:spPr>
        <p:txBody>
          <a:bodyPr wrap="square" anchor="t" lIns="0" rIns="0" tIns="0" bIns="0">
            <a:spAutoFit/>
          </a:bodyPr>
          <a:lstStyle/>
          <a:p>
            <a:pPr algn="l"/>
            <a:r>
              <a:rPr sz="1100" b="0" i="1">
                <a:solidFill>
                  <a:srgbClr val="B8B8C8"/>
                </a:solidFill>
                <a:latin typeface="Helvetica Neue"/>
              </a:rPr>
              <a:t>per task</a:t>
            </a:r>
          </a:p>
        </p:txBody>
      </p:sp>
      <p:sp>
        <p:nvSpPr>
          <p:cNvPr id="12" name="TextBox 11"/>
          <p:cNvSpPr txBox="1"/>
          <p:nvPr/>
        </p:nvSpPr>
        <p:spPr>
          <a:xfrm>
            <a:off x="7772400" y="2203704"/>
            <a:ext cx="3931920" cy="365760"/>
          </a:xfrm>
          <a:prstGeom prst="rect">
            <a:avLst/>
          </a:prstGeom>
          <a:noFill/>
        </p:spPr>
        <p:txBody>
          <a:bodyPr wrap="square" anchor="t" lIns="0" rIns="0" tIns="0" bIns="0">
            <a:spAutoFit/>
          </a:bodyPr>
          <a:lstStyle/>
          <a:p>
            <a:pPr algn="l"/>
            <a:r>
              <a:rPr sz="1100" b="0" i="0">
                <a:solidFill>
                  <a:srgbClr val="B8B8C8"/>
                </a:solidFill>
                <a:latin typeface="Helvetica Neue"/>
              </a:rPr>
              <a:t>the why, in/out-of-scope, success criteria</a:t>
            </a:r>
          </a:p>
        </p:txBody>
      </p:sp>
      <p:sp>
        <p:nvSpPr>
          <p:cNvPr id="13" name="Rounded Rectangle 12"/>
          <p:cNvSpPr/>
          <p:nvPr/>
        </p:nvSpPr>
        <p:spPr>
          <a:xfrm>
            <a:off x="640080" y="2743200"/>
            <a:ext cx="1463040" cy="54864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DOMAIN</a:t>
            </a:r>
          </a:p>
        </p:txBody>
      </p:sp>
      <p:sp>
        <p:nvSpPr>
          <p:cNvPr id="14" name="TextBox 13"/>
          <p:cNvSpPr txBox="1"/>
          <p:nvPr/>
        </p:nvSpPr>
        <p:spPr>
          <a:xfrm>
            <a:off x="2194560" y="2889504"/>
            <a:ext cx="3657600" cy="365760"/>
          </a:xfrm>
          <a:prstGeom prst="rect">
            <a:avLst/>
          </a:prstGeom>
          <a:noFill/>
        </p:spPr>
        <p:txBody>
          <a:bodyPr wrap="square" anchor="t" lIns="0" rIns="0" tIns="0" bIns="0">
            <a:spAutoFit/>
          </a:bodyPr>
          <a:lstStyle/>
          <a:p>
            <a:pPr algn="l"/>
            <a:r>
              <a:rPr sz="1100" b="0" i="0">
                <a:solidFill>
                  <a:srgbClr val="FFFFFF"/>
                </a:solidFill>
                <a:latin typeface="Menlo"/>
              </a:rPr>
              <a:t>DOMAIN.md</a:t>
            </a:r>
          </a:p>
        </p:txBody>
      </p:sp>
      <p:sp>
        <p:nvSpPr>
          <p:cNvPr id="15" name="TextBox 14"/>
          <p:cNvSpPr txBox="1"/>
          <p:nvPr/>
        </p:nvSpPr>
        <p:spPr>
          <a:xfrm>
            <a:off x="5943600" y="2889504"/>
            <a:ext cx="1645920" cy="365760"/>
          </a:xfrm>
          <a:prstGeom prst="rect">
            <a:avLst/>
          </a:prstGeom>
          <a:noFill/>
        </p:spPr>
        <p:txBody>
          <a:bodyPr wrap="square" anchor="t" lIns="0" rIns="0" tIns="0" bIns="0">
            <a:spAutoFit/>
          </a:bodyPr>
          <a:lstStyle/>
          <a:p>
            <a:pPr algn="l"/>
            <a:r>
              <a:rPr sz="1100" b="0" i="1">
                <a:solidFill>
                  <a:srgbClr val="B8B8C8"/>
                </a:solidFill>
                <a:latin typeface="Helvetica Neue"/>
              </a:rPr>
              <a:t>per repo</a:t>
            </a:r>
          </a:p>
        </p:txBody>
      </p:sp>
      <p:sp>
        <p:nvSpPr>
          <p:cNvPr id="16" name="TextBox 15"/>
          <p:cNvSpPr txBox="1"/>
          <p:nvPr/>
        </p:nvSpPr>
        <p:spPr>
          <a:xfrm>
            <a:off x="7772400" y="2889504"/>
            <a:ext cx="3931920" cy="365760"/>
          </a:xfrm>
          <a:prstGeom prst="rect">
            <a:avLst/>
          </a:prstGeom>
          <a:noFill/>
        </p:spPr>
        <p:txBody>
          <a:bodyPr wrap="square" anchor="t" lIns="0" rIns="0" tIns="0" bIns="0">
            <a:spAutoFit/>
          </a:bodyPr>
          <a:lstStyle/>
          <a:p>
            <a:pPr algn="l"/>
            <a:r>
              <a:rPr sz="1100" b="0" i="0">
                <a:solidFill>
                  <a:srgbClr val="B8B8C8"/>
                </a:solidFill>
                <a:latin typeface="Helvetica Neue"/>
              </a:rPr>
              <a:t>bounds, integrations, installer relationship, legacy constraints</a:t>
            </a:r>
          </a:p>
        </p:txBody>
      </p:sp>
      <p:sp>
        <p:nvSpPr>
          <p:cNvPr id="17" name="Rounded Rectangle 16"/>
          <p:cNvSpPr/>
          <p:nvPr/>
        </p:nvSpPr>
        <p:spPr>
          <a:xfrm>
            <a:off x="640080" y="3429000"/>
            <a:ext cx="1463040" cy="54864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PRODUCT-MAP</a:t>
            </a:r>
          </a:p>
        </p:txBody>
      </p:sp>
      <p:sp>
        <p:nvSpPr>
          <p:cNvPr id="18" name="TextBox 17"/>
          <p:cNvSpPr txBox="1"/>
          <p:nvPr/>
        </p:nvSpPr>
        <p:spPr>
          <a:xfrm>
            <a:off x="2194560" y="3575304"/>
            <a:ext cx="3657600" cy="365760"/>
          </a:xfrm>
          <a:prstGeom prst="rect">
            <a:avLst/>
          </a:prstGeom>
          <a:noFill/>
        </p:spPr>
        <p:txBody>
          <a:bodyPr wrap="square" anchor="t" lIns="0" rIns="0" tIns="0" bIns="0">
            <a:spAutoFit/>
          </a:bodyPr>
          <a:lstStyle/>
          <a:p>
            <a:pPr algn="l"/>
            <a:r>
              <a:rPr sz="1100" b="0" i="0">
                <a:solidFill>
                  <a:srgbClr val="FFFFFF"/>
                </a:solidFill>
                <a:latin typeface="Menlo"/>
              </a:rPr>
              <a:t>PRODUCT-MAP.md</a:t>
            </a:r>
          </a:p>
        </p:txBody>
      </p:sp>
      <p:sp>
        <p:nvSpPr>
          <p:cNvPr id="19" name="TextBox 18"/>
          <p:cNvSpPr txBox="1"/>
          <p:nvPr/>
        </p:nvSpPr>
        <p:spPr>
          <a:xfrm>
            <a:off x="5943600" y="3575304"/>
            <a:ext cx="1645920" cy="365760"/>
          </a:xfrm>
          <a:prstGeom prst="rect">
            <a:avLst/>
          </a:prstGeom>
          <a:noFill/>
        </p:spPr>
        <p:txBody>
          <a:bodyPr wrap="square" anchor="t" lIns="0" rIns="0" tIns="0" bIns="0">
            <a:spAutoFit/>
          </a:bodyPr>
          <a:lstStyle/>
          <a:p>
            <a:pPr algn="l"/>
            <a:r>
              <a:rPr sz="1100" b="0" i="1">
                <a:solidFill>
                  <a:srgbClr val="B8B8C8"/>
                </a:solidFill>
                <a:latin typeface="Helvetica Neue"/>
              </a:rPr>
              <a:t>umbrella</a:t>
            </a:r>
          </a:p>
        </p:txBody>
      </p:sp>
      <p:sp>
        <p:nvSpPr>
          <p:cNvPr id="20" name="TextBox 19"/>
          <p:cNvSpPr txBox="1"/>
          <p:nvPr/>
        </p:nvSpPr>
        <p:spPr>
          <a:xfrm>
            <a:off x="7772400" y="3575304"/>
            <a:ext cx="3931920" cy="365760"/>
          </a:xfrm>
          <a:prstGeom prst="rect">
            <a:avLst/>
          </a:prstGeom>
          <a:noFill/>
        </p:spPr>
        <p:txBody>
          <a:bodyPr wrap="square" anchor="t" lIns="0" rIns="0" tIns="0" bIns="0">
            <a:spAutoFit/>
          </a:bodyPr>
          <a:lstStyle/>
          <a:p>
            <a:pPr algn="l"/>
            <a:r>
              <a:rPr sz="1100" b="0" i="0">
                <a:solidFill>
                  <a:srgbClr val="B8B8C8"/>
                </a:solidFill>
                <a:latin typeface="Helvetica Neue"/>
              </a:rPr>
              <a:t>member repos, build order, cross-repo contracts</a:t>
            </a:r>
          </a:p>
        </p:txBody>
      </p:sp>
      <p:sp>
        <p:nvSpPr>
          <p:cNvPr id="21" name="Rounded Rectangle 20"/>
          <p:cNvSpPr/>
          <p:nvPr/>
        </p:nvSpPr>
        <p:spPr>
          <a:xfrm>
            <a:off x="640080" y="4114800"/>
            <a:ext cx="1463040" cy="54864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CONTEXT</a:t>
            </a:r>
          </a:p>
        </p:txBody>
      </p:sp>
      <p:sp>
        <p:nvSpPr>
          <p:cNvPr id="22" name="TextBox 21"/>
          <p:cNvSpPr txBox="1"/>
          <p:nvPr/>
        </p:nvSpPr>
        <p:spPr>
          <a:xfrm>
            <a:off x="2194560" y="4261104"/>
            <a:ext cx="3657600" cy="365760"/>
          </a:xfrm>
          <a:prstGeom prst="rect">
            <a:avLst/>
          </a:prstGeom>
          <a:noFill/>
        </p:spPr>
        <p:txBody>
          <a:bodyPr wrap="square" anchor="t" lIns="0" rIns="0" tIns="0" bIns="0">
            <a:spAutoFit/>
          </a:bodyPr>
          <a:lstStyle/>
          <a:p>
            <a:pPr algn="l"/>
            <a:r>
              <a:rPr sz="1100" b="0" i="0">
                <a:solidFill>
                  <a:srgbClr val="FFFFFF"/>
                </a:solidFill>
                <a:latin typeface="Menlo"/>
              </a:rPr>
              <a:t>CONTEXT.md (or CONTEXT-MAP.md + per-context)</a:t>
            </a:r>
          </a:p>
        </p:txBody>
      </p:sp>
      <p:sp>
        <p:nvSpPr>
          <p:cNvPr id="23" name="TextBox 22"/>
          <p:cNvSpPr txBox="1"/>
          <p:nvPr/>
        </p:nvSpPr>
        <p:spPr>
          <a:xfrm>
            <a:off x="5943600" y="4261104"/>
            <a:ext cx="1645920" cy="365760"/>
          </a:xfrm>
          <a:prstGeom prst="rect">
            <a:avLst/>
          </a:prstGeom>
          <a:noFill/>
        </p:spPr>
        <p:txBody>
          <a:bodyPr wrap="square" anchor="t" lIns="0" rIns="0" tIns="0" bIns="0">
            <a:spAutoFit/>
          </a:bodyPr>
          <a:lstStyle/>
          <a:p>
            <a:pPr algn="l"/>
            <a:r>
              <a:rPr sz="1100" b="0" i="1">
                <a:solidFill>
                  <a:srgbClr val="B8B8C8"/>
                </a:solidFill>
                <a:latin typeface="Helvetica Neue"/>
              </a:rPr>
              <a:t>per repo / per bounded context</a:t>
            </a:r>
          </a:p>
        </p:txBody>
      </p:sp>
      <p:sp>
        <p:nvSpPr>
          <p:cNvPr id="24" name="TextBox 23"/>
          <p:cNvSpPr txBox="1"/>
          <p:nvPr/>
        </p:nvSpPr>
        <p:spPr>
          <a:xfrm>
            <a:off x="7772400" y="4261104"/>
            <a:ext cx="3931920" cy="365760"/>
          </a:xfrm>
          <a:prstGeom prst="rect">
            <a:avLst/>
          </a:prstGeom>
          <a:noFill/>
        </p:spPr>
        <p:txBody>
          <a:bodyPr wrap="square" anchor="t" lIns="0" rIns="0" tIns="0" bIns="0">
            <a:spAutoFit/>
          </a:bodyPr>
          <a:lstStyle/>
          <a:p>
            <a:pPr algn="l"/>
            <a:r>
              <a:rPr sz="1100" b="0" i="0">
                <a:solidFill>
                  <a:srgbClr val="B8B8C8"/>
                </a:solidFill>
                <a:latin typeface="Helvetica Neue"/>
              </a:rPr>
              <a:t>glossary — terms + relationships</a:t>
            </a:r>
          </a:p>
        </p:txBody>
      </p:sp>
      <p:sp>
        <p:nvSpPr>
          <p:cNvPr id="25" name="Rounded Rectangle 24"/>
          <p:cNvSpPr/>
          <p:nvPr/>
        </p:nvSpPr>
        <p:spPr>
          <a:xfrm>
            <a:off x="640080" y="4800600"/>
            <a:ext cx="1463040" cy="54864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ADRs</a:t>
            </a:r>
          </a:p>
        </p:txBody>
      </p:sp>
      <p:sp>
        <p:nvSpPr>
          <p:cNvPr id="26" name="TextBox 25"/>
          <p:cNvSpPr txBox="1"/>
          <p:nvPr/>
        </p:nvSpPr>
        <p:spPr>
          <a:xfrm>
            <a:off x="2194560" y="4946904"/>
            <a:ext cx="3657600" cy="365760"/>
          </a:xfrm>
          <a:prstGeom prst="rect">
            <a:avLst/>
          </a:prstGeom>
          <a:noFill/>
        </p:spPr>
        <p:txBody>
          <a:bodyPr wrap="square" anchor="t" lIns="0" rIns="0" tIns="0" bIns="0">
            <a:spAutoFit/>
          </a:bodyPr>
          <a:lstStyle/>
          <a:p>
            <a:pPr algn="l"/>
            <a:r>
              <a:rPr sz="1100" b="0" i="0">
                <a:solidFill>
                  <a:srgbClr val="FFFFFF"/>
                </a:solidFill>
                <a:latin typeface="Menlo"/>
              </a:rPr>
              <a:t>docs/adr/*.md</a:t>
            </a:r>
          </a:p>
        </p:txBody>
      </p:sp>
      <p:sp>
        <p:nvSpPr>
          <p:cNvPr id="27" name="TextBox 26"/>
          <p:cNvSpPr txBox="1"/>
          <p:nvPr/>
        </p:nvSpPr>
        <p:spPr>
          <a:xfrm>
            <a:off x="5943600" y="4946904"/>
            <a:ext cx="1645920" cy="365760"/>
          </a:xfrm>
          <a:prstGeom prst="rect">
            <a:avLst/>
          </a:prstGeom>
          <a:noFill/>
        </p:spPr>
        <p:txBody>
          <a:bodyPr wrap="square" anchor="t" lIns="0" rIns="0" tIns="0" bIns="0">
            <a:spAutoFit/>
          </a:bodyPr>
          <a:lstStyle/>
          <a:p>
            <a:pPr algn="l"/>
            <a:r>
              <a:rPr sz="1100" b="0" i="1">
                <a:solidFill>
                  <a:srgbClr val="B8B8C8"/>
                </a:solidFill>
                <a:latin typeface="Helvetica Neue"/>
              </a:rPr>
              <a:t>per decision</a:t>
            </a:r>
          </a:p>
        </p:txBody>
      </p:sp>
      <p:sp>
        <p:nvSpPr>
          <p:cNvPr id="28" name="TextBox 27"/>
          <p:cNvSpPr txBox="1"/>
          <p:nvPr/>
        </p:nvSpPr>
        <p:spPr>
          <a:xfrm>
            <a:off x="7772400" y="4946904"/>
            <a:ext cx="3931920" cy="365760"/>
          </a:xfrm>
          <a:prstGeom prst="rect">
            <a:avLst/>
          </a:prstGeom>
          <a:noFill/>
        </p:spPr>
        <p:txBody>
          <a:bodyPr wrap="square" anchor="t" lIns="0" rIns="0" tIns="0" bIns="0">
            <a:spAutoFit/>
          </a:bodyPr>
          <a:lstStyle/>
          <a:p>
            <a:pPr algn="l"/>
            <a:r>
              <a:rPr sz="1100" b="0" i="0">
                <a:solidFill>
                  <a:srgbClr val="B8B8C8"/>
                </a:solidFill>
                <a:latin typeface="Helvetica Neue"/>
              </a:rPr>
              <a:t>architectural memory: hard-to-reverse + non-obvious + real trade-off</a:t>
            </a:r>
          </a:p>
        </p:txBody>
      </p:sp>
      <p:sp>
        <p:nvSpPr>
          <p:cNvPr id="29" name="TextBox 28"/>
          <p:cNvSpPr txBox="1"/>
          <p:nvPr/>
        </p:nvSpPr>
        <p:spPr>
          <a:xfrm>
            <a:off x="640080" y="6080760"/>
            <a:ext cx="10972800" cy="365760"/>
          </a:xfrm>
          <a:prstGeom prst="rect">
            <a:avLst/>
          </a:prstGeom>
          <a:noFill/>
        </p:spPr>
        <p:txBody>
          <a:bodyPr wrap="square" anchor="t" lIns="0" rIns="0" tIns="0" bIns="0">
            <a:spAutoFit/>
          </a:bodyPr>
          <a:lstStyle/>
          <a:p>
            <a:pPr algn="ctr"/>
            <a:r>
              <a:rPr sz="1300" b="0" i="1">
                <a:solidFill>
                  <a:srgbClr val="22D3EE"/>
                </a:solidFill>
                <a:latin typeface="Helvetica Neue"/>
              </a:rPr>
              <a:t>All optional. Every skill is a no-op against absent files.  "Enforcement scales with what you write."</a:t>
            </a:r>
          </a:p>
        </p:txBody>
      </p:sp>
      <p:sp>
        <p:nvSpPr>
          <p:cNvPr id="30" name="TextBox 29"/>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Each doc adds one upstream gate; absent files = today's behaviour.</a:t>
            </a:r>
          </a:p>
        </p:txBody>
      </p:sp>
      <p:sp>
        <p:nvSpPr>
          <p:cNvPr id="31" name="TextBox 30"/>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PROGRESSIVE ENHANCEMENT · MATRIX</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Where each doc is read.</a:t>
            </a:r>
          </a:p>
        </p:txBody>
      </p:sp>
      <p:sp>
        <p:nvSpPr>
          <p:cNvPr id="5" name="TextBox 4"/>
          <p:cNvSpPr txBox="1"/>
          <p:nvPr/>
        </p:nvSpPr>
        <p:spPr>
          <a:xfrm>
            <a:off x="548640" y="1691640"/>
            <a:ext cx="2560320" cy="365760"/>
          </a:xfrm>
          <a:prstGeom prst="rect">
            <a:avLst/>
          </a:prstGeom>
          <a:noFill/>
        </p:spPr>
        <p:txBody>
          <a:bodyPr wrap="square" anchor="t" lIns="0" rIns="0" tIns="0" bIns="0">
            <a:spAutoFit/>
          </a:bodyPr>
          <a:lstStyle/>
          <a:p>
            <a:pPr algn="l"/>
            <a:r>
              <a:rPr sz="1200" b="1" i="0">
                <a:solidFill>
                  <a:srgbClr val="0E7490"/>
                </a:solidFill>
                <a:latin typeface="Helvetica Neue"/>
              </a:rPr>
              <a:t>DOC</a:t>
            </a:r>
          </a:p>
        </p:txBody>
      </p:sp>
      <p:sp>
        <p:nvSpPr>
          <p:cNvPr id="6" name="TextBox 5"/>
          <p:cNvSpPr txBox="1"/>
          <p:nvPr/>
        </p:nvSpPr>
        <p:spPr>
          <a:xfrm>
            <a:off x="3200400" y="1691640"/>
            <a:ext cx="1097280" cy="365760"/>
          </a:xfrm>
          <a:prstGeom prst="rect">
            <a:avLst/>
          </a:prstGeom>
          <a:noFill/>
        </p:spPr>
        <p:txBody>
          <a:bodyPr wrap="square" anchor="t" lIns="0" rIns="0" tIns="0" bIns="0">
            <a:spAutoFit/>
          </a:bodyPr>
          <a:lstStyle/>
          <a:p>
            <a:pPr algn="ctr"/>
            <a:r>
              <a:rPr sz="1100" b="1" i="0">
                <a:solidFill>
                  <a:srgbClr val="0E7490"/>
                </a:solidFill>
                <a:latin typeface="Helvetica Neue"/>
              </a:rPr>
              <a:t>INTENT</a:t>
            </a:r>
          </a:p>
        </p:txBody>
      </p:sp>
      <p:sp>
        <p:nvSpPr>
          <p:cNvPr id="7" name="TextBox 6"/>
          <p:cNvSpPr txBox="1"/>
          <p:nvPr/>
        </p:nvSpPr>
        <p:spPr>
          <a:xfrm>
            <a:off x="4480560" y="1691640"/>
            <a:ext cx="1097280" cy="365760"/>
          </a:xfrm>
          <a:prstGeom prst="rect">
            <a:avLst/>
          </a:prstGeom>
          <a:noFill/>
        </p:spPr>
        <p:txBody>
          <a:bodyPr wrap="square" anchor="t" lIns="0" rIns="0" tIns="0" bIns="0">
            <a:spAutoFit/>
          </a:bodyPr>
          <a:lstStyle/>
          <a:p>
            <a:pPr algn="ctr"/>
            <a:r>
              <a:rPr sz="1100" b="1" i="0">
                <a:solidFill>
                  <a:srgbClr val="0E7490"/>
                </a:solidFill>
                <a:latin typeface="Helvetica Neue"/>
              </a:rPr>
              <a:t>DESIGN</a:t>
            </a:r>
          </a:p>
        </p:txBody>
      </p:sp>
      <p:sp>
        <p:nvSpPr>
          <p:cNvPr id="8" name="TextBox 7"/>
          <p:cNvSpPr txBox="1"/>
          <p:nvPr/>
        </p:nvSpPr>
        <p:spPr>
          <a:xfrm>
            <a:off x="5669280" y="1691640"/>
            <a:ext cx="1097280" cy="365760"/>
          </a:xfrm>
          <a:prstGeom prst="rect">
            <a:avLst/>
          </a:prstGeom>
          <a:noFill/>
        </p:spPr>
        <p:txBody>
          <a:bodyPr wrap="square" anchor="t" lIns="0" rIns="0" tIns="0" bIns="0">
            <a:spAutoFit/>
          </a:bodyPr>
          <a:lstStyle/>
          <a:p>
            <a:pPr algn="ctr"/>
            <a:r>
              <a:rPr sz="1100" b="1" i="0">
                <a:solidFill>
                  <a:srgbClr val="0E7490"/>
                </a:solidFill>
                <a:latin typeface="Helvetica Neue"/>
              </a:rPr>
              <a:t>PRD</a:t>
            </a:r>
          </a:p>
        </p:txBody>
      </p:sp>
      <p:sp>
        <p:nvSpPr>
          <p:cNvPr id="9" name="TextBox 8"/>
          <p:cNvSpPr txBox="1"/>
          <p:nvPr/>
        </p:nvSpPr>
        <p:spPr>
          <a:xfrm>
            <a:off x="6858000" y="1691640"/>
            <a:ext cx="1097280" cy="365760"/>
          </a:xfrm>
          <a:prstGeom prst="rect">
            <a:avLst/>
          </a:prstGeom>
          <a:noFill/>
        </p:spPr>
        <p:txBody>
          <a:bodyPr wrap="square" anchor="t" lIns="0" rIns="0" tIns="0" bIns="0">
            <a:spAutoFit/>
          </a:bodyPr>
          <a:lstStyle/>
          <a:p>
            <a:pPr algn="ctr"/>
            <a:r>
              <a:rPr sz="1100" b="1" i="0">
                <a:solidFill>
                  <a:srgbClr val="0E7490"/>
                </a:solidFill>
                <a:latin typeface="Helvetica Neue"/>
              </a:rPr>
              <a:t>ISSUES</a:t>
            </a:r>
          </a:p>
        </p:txBody>
      </p:sp>
      <p:sp>
        <p:nvSpPr>
          <p:cNvPr id="10" name="TextBox 9"/>
          <p:cNvSpPr txBox="1"/>
          <p:nvPr/>
        </p:nvSpPr>
        <p:spPr>
          <a:xfrm>
            <a:off x="8046720" y="1691640"/>
            <a:ext cx="1097280" cy="365760"/>
          </a:xfrm>
          <a:prstGeom prst="rect">
            <a:avLst/>
          </a:prstGeom>
          <a:noFill/>
        </p:spPr>
        <p:txBody>
          <a:bodyPr wrap="square" anchor="t" lIns="0" rIns="0" tIns="0" bIns="0">
            <a:spAutoFit/>
          </a:bodyPr>
          <a:lstStyle/>
          <a:p>
            <a:pPr algn="ctr"/>
            <a:r>
              <a:rPr sz="1100" b="1" i="0">
                <a:solidFill>
                  <a:srgbClr val="0E7490"/>
                </a:solidFill>
                <a:latin typeface="Helvetica Neue"/>
              </a:rPr>
              <a:t>TDD</a:t>
            </a:r>
          </a:p>
        </p:txBody>
      </p:sp>
      <p:sp>
        <p:nvSpPr>
          <p:cNvPr id="11" name="TextBox 10"/>
          <p:cNvSpPr txBox="1"/>
          <p:nvPr/>
        </p:nvSpPr>
        <p:spPr>
          <a:xfrm>
            <a:off x="9418320" y="1691640"/>
            <a:ext cx="2560320" cy="365760"/>
          </a:xfrm>
          <a:prstGeom prst="rect">
            <a:avLst/>
          </a:prstGeom>
          <a:noFill/>
        </p:spPr>
        <p:txBody>
          <a:bodyPr wrap="square" anchor="t" lIns="0" rIns="0" tIns="0" bIns="0">
            <a:spAutoFit/>
          </a:bodyPr>
          <a:lstStyle/>
          <a:p>
            <a:pPr algn="l"/>
            <a:r>
              <a:rPr sz="1200" b="1" i="0">
                <a:solidFill>
                  <a:srgbClr val="0E7490"/>
                </a:solidFill>
                <a:latin typeface="Helvetica Neue"/>
              </a:rPr>
              <a:t>ROLE</a:t>
            </a:r>
          </a:p>
        </p:txBody>
      </p:sp>
      <p:sp>
        <p:nvSpPr>
          <p:cNvPr id="12" name="TextBox 11"/>
          <p:cNvSpPr txBox="1"/>
          <p:nvPr/>
        </p:nvSpPr>
        <p:spPr>
          <a:xfrm>
            <a:off x="548640" y="2194560"/>
            <a:ext cx="2560320" cy="411480"/>
          </a:xfrm>
          <a:prstGeom prst="rect">
            <a:avLst/>
          </a:prstGeom>
          <a:noFill/>
        </p:spPr>
        <p:txBody>
          <a:bodyPr wrap="square" anchor="t" lIns="0" rIns="0" tIns="0" bIns="0">
            <a:spAutoFit/>
          </a:bodyPr>
          <a:lstStyle/>
          <a:p>
            <a:pPr algn="l"/>
            <a:r>
              <a:rPr sz="1200" b="0" i="0">
                <a:solidFill>
                  <a:srgbClr val="FFFFFF"/>
                </a:solidFill>
                <a:latin typeface="Menlo"/>
              </a:rPr>
              <a:t>intent.md</a:t>
            </a:r>
          </a:p>
        </p:txBody>
      </p:sp>
      <p:sp>
        <p:nvSpPr>
          <p:cNvPr id="13" name="TextBox 12"/>
          <p:cNvSpPr txBox="1"/>
          <p:nvPr/>
        </p:nvSpPr>
        <p:spPr>
          <a:xfrm>
            <a:off x="3200400" y="2240279"/>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14" name="Rounded Rectangle 13"/>
          <p:cNvSpPr/>
          <p:nvPr/>
        </p:nvSpPr>
        <p:spPr>
          <a:xfrm>
            <a:off x="4480560" y="2221991"/>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15" name="Rounded Rectangle 14"/>
          <p:cNvSpPr/>
          <p:nvPr/>
        </p:nvSpPr>
        <p:spPr>
          <a:xfrm>
            <a:off x="5669280" y="2221991"/>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16" name="TextBox 15"/>
          <p:cNvSpPr txBox="1"/>
          <p:nvPr/>
        </p:nvSpPr>
        <p:spPr>
          <a:xfrm>
            <a:off x="6858000" y="2240279"/>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17" name="TextBox 16"/>
          <p:cNvSpPr txBox="1"/>
          <p:nvPr/>
        </p:nvSpPr>
        <p:spPr>
          <a:xfrm>
            <a:off x="8046720" y="2240279"/>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18" name="TextBox 17"/>
          <p:cNvSpPr txBox="1"/>
          <p:nvPr/>
        </p:nvSpPr>
        <p:spPr>
          <a:xfrm>
            <a:off x="9418320" y="2240279"/>
            <a:ext cx="2560320" cy="548640"/>
          </a:xfrm>
          <a:prstGeom prst="rect">
            <a:avLst/>
          </a:prstGeom>
          <a:noFill/>
        </p:spPr>
        <p:txBody>
          <a:bodyPr wrap="square" anchor="t" lIns="0" rIns="0" tIns="0" bIns="0">
            <a:spAutoFit/>
          </a:bodyPr>
          <a:lstStyle/>
          <a:p>
            <a:pPr algn="l"/>
            <a:r>
              <a:rPr sz="1000" b="0" i="1">
                <a:solidFill>
                  <a:srgbClr val="B8B8C8"/>
                </a:solidFill>
                <a:latin typeface="Helvetica Neue"/>
              </a:rPr>
              <a:t>PRD must trace back to the locked why</a:t>
            </a:r>
          </a:p>
        </p:txBody>
      </p:sp>
      <p:sp>
        <p:nvSpPr>
          <p:cNvPr id="19" name="TextBox 18"/>
          <p:cNvSpPr txBox="1"/>
          <p:nvPr/>
        </p:nvSpPr>
        <p:spPr>
          <a:xfrm>
            <a:off x="548640" y="2880360"/>
            <a:ext cx="2560320" cy="411480"/>
          </a:xfrm>
          <a:prstGeom prst="rect">
            <a:avLst/>
          </a:prstGeom>
          <a:noFill/>
        </p:spPr>
        <p:txBody>
          <a:bodyPr wrap="square" anchor="t" lIns="0" rIns="0" tIns="0" bIns="0">
            <a:spAutoFit/>
          </a:bodyPr>
          <a:lstStyle/>
          <a:p>
            <a:pPr algn="l"/>
            <a:r>
              <a:rPr sz="1200" b="0" i="0">
                <a:solidFill>
                  <a:srgbClr val="FFFFFF"/>
                </a:solidFill>
                <a:latin typeface="Menlo"/>
              </a:rPr>
              <a:t>DOMAIN.md</a:t>
            </a:r>
          </a:p>
        </p:txBody>
      </p:sp>
      <p:sp>
        <p:nvSpPr>
          <p:cNvPr id="20" name="Rounded Rectangle 19"/>
          <p:cNvSpPr/>
          <p:nvPr/>
        </p:nvSpPr>
        <p:spPr>
          <a:xfrm>
            <a:off x="3200400" y="2907791"/>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21" name="Rounded Rectangle 20"/>
          <p:cNvSpPr/>
          <p:nvPr/>
        </p:nvSpPr>
        <p:spPr>
          <a:xfrm>
            <a:off x="4480560" y="2907791"/>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22" name="Rounded Rectangle 21"/>
          <p:cNvSpPr/>
          <p:nvPr/>
        </p:nvSpPr>
        <p:spPr>
          <a:xfrm>
            <a:off x="5669280" y="2907791"/>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23" name="TextBox 22"/>
          <p:cNvSpPr txBox="1"/>
          <p:nvPr/>
        </p:nvSpPr>
        <p:spPr>
          <a:xfrm>
            <a:off x="6858000" y="2926079"/>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24" name="TextBox 23"/>
          <p:cNvSpPr txBox="1"/>
          <p:nvPr/>
        </p:nvSpPr>
        <p:spPr>
          <a:xfrm>
            <a:off x="8046720" y="2926079"/>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25" name="TextBox 24"/>
          <p:cNvSpPr txBox="1"/>
          <p:nvPr/>
        </p:nvSpPr>
        <p:spPr>
          <a:xfrm>
            <a:off x="9418320" y="2926079"/>
            <a:ext cx="2560320" cy="548640"/>
          </a:xfrm>
          <a:prstGeom prst="rect">
            <a:avLst/>
          </a:prstGeom>
          <a:noFill/>
        </p:spPr>
        <p:txBody>
          <a:bodyPr wrap="square" anchor="t" lIns="0" rIns="0" tIns="0" bIns="0">
            <a:spAutoFit/>
          </a:bodyPr>
          <a:lstStyle/>
          <a:p>
            <a:pPr algn="l"/>
            <a:r>
              <a:rPr sz="1000" b="0" i="1">
                <a:solidFill>
                  <a:srgbClr val="B8B8C8"/>
                </a:solidFill>
                <a:latin typeface="Helvetica Neue"/>
              </a:rPr>
              <a:t>grilling grounded in bounds; PRD cites bounds</a:t>
            </a:r>
          </a:p>
        </p:txBody>
      </p:sp>
      <p:sp>
        <p:nvSpPr>
          <p:cNvPr id="26" name="TextBox 25"/>
          <p:cNvSpPr txBox="1"/>
          <p:nvPr/>
        </p:nvSpPr>
        <p:spPr>
          <a:xfrm>
            <a:off x="548640" y="3566160"/>
            <a:ext cx="2560320" cy="411480"/>
          </a:xfrm>
          <a:prstGeom prst="rect">
            <a:avLst/>
          </a:prstGeom>
          <a:noFill/>
        </p:spPr>
        <p:txBody>
          <a:bodyPr wrap="square" anchor="t" lIns="0" rIns="0" tIns="0" bIns="0">
            <a:spAutoFit/>
          </a:bodyPr>
          <a:lstStyle/>
          <a:p>
            <a:pPr algn="l"/>
            <a:r>
              <a:rPr sz="1200" b="0" i="0">
                <a:solidFill>
                  <a:srgbClr val="FFFFFF"/>
                </a:solidFill>
                <a:latin typeface="Menlo"/>
              </a:rPr>
              <a:t>PRODUCT-MAP.md</a:t>
            </a:r>
          </a:p>
        </p:txBody>
      </p:sp>
      <p:sp>
        <p:nvSpPr>
          <p:cNvPr id="27" name="Rounded Rectangle 26"/>
          <p:cNvSpPr/>
          <p:nvPr/>
        </p:nvSpPr>
        <p:spPr>
          <a:xfrm>
            <a:off x="3200400" y="3593591"/>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28" name="Rounded Rectangle 27"/>
          <p:cNvSpPr/>
          <p:nvPr/>
        </p:nvSpPr>
        <p:spPr>
          <a:xfrm>
            <a:off x="4480560" y="3593591"/>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29" name="Rounded Rectangle 28"/>
          <p:cNvSpPr/>
          <p:nvPr/>
        </p:nvSpPr>
        <p:spPr>
          <a:xfrm>
            <a:off x="5669280" y="3593591"/>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30" name="TextBox 29"/>
          <p:cNvSpPr txBox="1"/>
          <p:nvPr/>
        </p:nvSpPr>
        <p:spPr>
          <a:xfrm>
            <a:off x="6858000" y="3611879"/>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31" name="TextBox 30"/>
          <p:cNvSpPr txBox="1"/>
          <p:nvPr/>
        </p:nvSpPr>
        <p:spPr>
          <a:xfrm>
            <a:off x="8046720" y="3611879"/>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32" name="TextBox 31"/>
          <p:cNvSpPr txBox="1"/>
          <p:nvPr/>
        </p:nvSpPr>
        <p:spPr>
          <a:xfrm>
            <a:off x="9418320" y="3611879"/>
            <a:ext cx="2560320" cy="548640"/>
          </a:xfrm>
          <a:prstGeom prst="rect">
            <a:avLst/>
          </a:prstGeom>
          <a:noFill/>
        </p:spPr>
        <p:txBody>
          <a:bodyPr wrap="square" anchor="t" lIns="0" rIns="0" tIns="0" bIns="0">
            <a:spAutoFit/>
          </a:bodyPr>
          <a:lstStyle/>
          <a:p>
            <a:pPr algn="l"/>
            <a:r>
              <a:rPr sz="1000" b="0" i="1">
                <a:solidFill>
                  <a:srgbClr val="B8B8C8"/>
                </a:solidFill>
                <a:latin typeface="Helvetica Neue"/>
              </a:rPr>
              <a:t>cross-repo contract checks</a:t>
            </a:r>
          </a:p>
        </p:txBody>
      </p:sp>
      <p:sp>
        <p:nvSpPr>
          <p:cNvPr id="33" name="TextBox 32"/>
          <p:cNvSpPr txBox="1"/>
          <p:nvPr/>
        </p:nvSpPr>
        <p:spPr>
          <a:xfrm>
            <a:off x="548640" y="4251960"/>
            <a:ext cx="2560320" cy="411480"/>
          </a:xfrm>
          <a:prstGeom prst="rect">
            <a:avLst/>
          </a:prstGeom>
          <a:noFill/>
        </p:spPr>
        <p:txBody>
          <a:bodyPr wrap="square" anchor="t" lIns="0" rIns="0" tIns="0" bIns="0">
            <a:spAutoFit/>
          </a:bodyPr>
          <a:lstStyle/>
          <a:p>
            <a:pPr algn="l"/>
            <a:r>
              <a:rPr sz="1200" b="0" i="0">
                <a:solidFill>
                  <a:srgbClr val="FFFFFF"/>
                </a:solidFill>
                <a:latin typeface="Menlo"/>
              </a:rPr>
              <a:t>CONTEXT.md</a:t>
            </a:r>
          </a:p>
        </p:txBody>
      </p:sp>
      <p:sp>
        <p:nvSpPr>
          <p:cNvPr id="34" name="TextBox 33"/>
          <p:cNvSpPr txBox="1"/>
          <p:nvPr/>
        </p:nvSpPr>
        <p:spPr>
          <a:xfrm>
            <a:off x="3200400" y="4297680"/>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35" name="Rounded Rectangle 34"/>
          <p:cNvSpPr/>
          <p:nvPr/>
        </p:nvSpPr>
        <p:spPr>
          <a:xfrm>
            <a:off x="4480560" y="4279392"/>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36" name="TextBox 35"/>
          <p:cNvSpPr txBox="1"/>
          <p:nvPr/>
        </p:nvSpPr>
        <p:spPr>
          <a:xfrm>
            <a:off x="5669280" y="4297680"/>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37" name="TextBox 36"/>
          <p:cNvSpPr txBox="1"/>
          <p:nvPr/>
        </p:nvSpPr>
        <p:spPr>
          <a:xfrm>
            <a:off x="6858000" y="4297680"/>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38" name="TextBox 37"/>
          <p:cNvSpPr txBox="1"/>
          <p:nvPr/>
        </p:nvSpPr>
        <p:spPr>
          <a:xfrm>
            <a:off x="8046720" y="4297680"/>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39" name="TextBox 38"/>
          <p:cNvSpPr txBox="1"/>
          <p:nvPr/>
        </p:nvSpPr>
        <p:spPr>
          <a:xfrm>
            <a:off x="9418320" y="4297680"/>
            <a:ext cx="2560320" cy="548640"/>
          </a:xfrm>
          <a:prstGeom prst="rect">
            <a:avLst/>
          </a:prstGeom>
          <a:noFill/>
        </p:spPr>
        <p:txBody>
          <a:bodyPr wrap="square" anchor="t" lIns="0" rIns="0" tIns="0" bIns="0">
            <a:spAutoFit/>
          </a:bodyPr>
          <a:lstStyle/>
          <a:p>
            <a:pPr algn="l"/>
            <a:r>
              <a:rPr sz="1000" b="0" i="1">
                <a:solidFill>
                  <a:srgbClr val="B8B8C8"/>
                </a:solidFill>
                <a:latin typeface="Helvetica Neue"/>
              </a:rPr>
              <a:t>glossary challenges; written inline as terms resolve</a:t>
            </a:r>
          </a:p>
        </p:txBody>
      </p:sp>
      <p:sp>
        <p:nvSpPr>
          <p:cNvPr id="40" name="TextBox 39"/>
          <p:cNvSpPr txBox="1"/>
          <p:nvPr/>
        </p:nvSpPr>
        <p:spPr>
          <a:xfrm>
            <a:off x="548640" y="4937760"/>
            <a:ext cx="2560320" cy="411480"/>
          </a:xfrm>
          <a:prstGeom prst="rect">
            <a:avLst/>
          </a:prstGeom>
          <a:noFill/>
        </p:spPr>
        <p:txBody>
          <a:bodyPr wrap="square" anchor="t" lIns="0" rIns="0" tIns="0" bIns="0">
            <a:spAutoFit/>
          </a:bodyPr>
          <a:lstStyle/>
          <a:p>
            <a:pPr algn="l"/>
            <a:r>
              <a:rPr sz="1200" b="0" i="0">
                <a:solidFill>
                  <a:srgbClr val="FFFFFF"/>
                </a:solidFill>
                <a:latin typeface="Menlo"/>
              </a:rPr>
              <a:t>docs/adr/*.md</a:t>
            </a:r>
          </a:p>
        </p:txBody>
      </p:sp>
      <p:sp>
        <p:nvSpPr>
          <p:cNvPr id="41" name="TextBox 40"/>
          <p:cNvSpPr txBox="1"/>
          <p:nvPr/>
        </p:nvSpPr>
        <p:spPr>
          <a:xfrm>
            <a:off x="3200400" y="4983480"/>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42" name="Rounded Rectangle 41"/>
          <p:cNvSpPr/>
          <p:nvPr/>
        </p:nvSpPr>
        <p:spPr>
          <a:xfrm>
            <a:off x="4480560" y="4965192"/>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43" name="Rounded Rectangle 42"/>
          <p:cNvSpPr/>
          <p:nvPr/>
        </p:nvSpPr>
        <p:spPr>
          <a:xfrm>
            <a:off x="5669280" y="4965192"/>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44" name="Rounded Rectangle 43"/>
          <p:cNvSpPr/>
          <p:nvPr/>
        </p:nvSpPr>
        <p:spPr>
          <a:xfrm>
            <a:off x="6858000" y="4965192"/>
            <a:ext cx="640080" cy="36576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a:t>
            </a:r>
          </a:p>
        </p:txBody>
      </p:sp>
      <p:sp>
        <p:nvSpPr>
          <p:cNvPr id="45" name="TextBox 44"/>
          <p:cNvSpPr txBox="1"/>
          <p:nvPr/>
        </p:nvSpPr>
        <p:spPr>
          <a:xfrm>
            <a:off x="8046720" y="4983480"/>
            <a:ext cx="1097280" cy="365760"/>
          </a:xfrm>
          <a:prstGeom prst="rect">
            <a:avLst/>
          </a:prstGeom>
          <a:noFill/>
        </p:spPr>
        <p:txBody>
          <a:bodyPr wrap="square" anchor="t" lIns="0" rIns="0" tIns="0" bIns="0">
            <a:spAutoFit/>
          </a:bodyPr>
          <a:lstStyle/>
          <a:p>
            <a:pPr algn="ctr"/>
            <a:r>
              <a:rPr sz="1200" b="0" i="0">
                <a:solidFill>
                  <a:srgbClr val="6A6A80"/>
                </a:solidFill>
                <a:latin typeface="Helvetica Neue"/>
              </a:rPr>
              <a:t>—</a:t>
            </a:r>
          </a:p>
        </p:txBody>
      </p:sp>
      <p:sp>
        <p:nvSpPr>
          <p:cNvPr id="46" name="TextBox 45"/>
          <p:cNvSpPr txBox="1"/>
          <p:nvPr/>
        </p:nvSpPr>
        <p:spPr>
          <a:xfrm>
            <a:off x="9418320" y="4983480"/>
            <a:ext cx="2560320" cy="548640"/>
          </a:xfrm>
          <a:prstGeom prst="rect">
            <a:avLst/>
          </a:prstGeom>
          <a:noFill/>
        </p:spPr>
        <p:txBody>
          <a:bodyPr wrap="square" anchor="t" lIns="0" rIns="0" tIns="0" bIns="0">
            <a:spAutoFit/>
          </a:bodyPr>
          <a:lstStyle/>
          <a:p>
            <a:pPr algn="l"/>
            <a:r>
              <a:rPr sz="1000" b="0" i="1">
                <a:solidFill>
                  <a:srgbClr val="B8B8C8"/>
                </a:solidFill>
                <a:latin typeface="Helvetica Neue"/>
              </a:rPr>
              <a:t>new ADRs written; downstream stages cite them</a:t>
            </a:r>
          </a:p>
        </p:txBody>
      </p:sp>
      <p:sp>
        <p:nvSpPr>
          <p:cNvPr id="47" name="TextBox 46"/>
          <p:cNvSpPr txBox="1"/>
          <p:nvPr/>
        </p:nvSpPr>
        <p:spPr>
          <a:xfrm>
            <a:off x="548640" y="6035040"/>
            <a:ext cx="10972800" cy="365760"/>
          </a:xfrm>
          <a:prstGeom prst="rect">
            <a:avLst/>
          </a:prstGeom>
          <a:noFill/>
        </p:spPr>
        <p:txBody>
          <a:bodyPr wrap="square" anchor="t" lIns="0" rIns="0" tIns="0" bIns="0">
            <a:spAutoFit/>
          </a:bodyPr>
          <a:lstStyle/>
          <a:p>
            <a:pPr algn="l"/>
            <a:r>
              <a:rPr sz="1300" b="0" i="1">
                <a:solidFill>
                  <a:srgbClr val="22D3EE"/>
                </a:solidFill>
                <a:latin typeface="Helvetica Neue"/>
              </a:rPr>
              <a:t>Cumulative: each new file you author strengthens every upstream gate.</a:t>
            </a:r>
          </a:p>
        </p:txBody>
      </p:sp>
      <p:sp>
        <p:nvSpPr>
          <p:cNvPr id="48" name="TextBox 47"/>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ISSUES/TDD don't read these directly — but inherit their effects via PRD.</a:t>
            </a:r>
          </a:p>
        </p:txBody>
      </p:sp>
      <p:sp>
        <p:nvSpPr>
          <p:cNvPr id="49" name="TextBox 48"/>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21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MID-STREAM CHANGE + CONCURRENT FLOWS</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Real-engineering ergonomics.</a:t>
            </a:r>
          </a:p>
        </p:txBody>
      </p:sp>
      <p:sp>
        <p:nvSpPr>
          <p:cNvPr id="5" name="Rounded Rectangle 4"/>
          <p:cNvSpPr/>
          <p:nvPr/>
        </p:nvSpPr>
        <p:spPr>
          <a:xfrm>
            <a:off x="502920" y="1691640"/>
            <a:ext cx="5577840" cy="64008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LOOP-BACK</a:t>
            </a:r>
          </a:p>
        </p:txBody>
      </p:sp>
      <p:sp>
        <p:nvSpPr>
          <p:cNvPr id="6" name="TextBox 5"/>
          <p:cNvSpPr txBox="1"/>
          <p:nvPr/>
        </p:nvSpPr>
        <p:spPr>
          <a:xfrm>
            <a:off x="548640" y="2404872"/>
            <a:ext cx="5486400" cy="320040"/>
          </a:xfrm>
          <a:prstGeom prst="rect">
            <a:avLst/>
          </a:prstGeom>
          <a:noFill/>
        </p:spPr>
        <p:txBody>
          <a:bodyPr wrap="square" anchor="t" lIns="0" rIns="0" tIns="0" bIns="0">
            <a:spAutoFit/>
          </a:bodyPr>
          <a:lstStyle/>
          <a:p>
            <a:pPr algn="l"/>
            <a:r>
              <a:rPr sz="1100" b="1" i="1">
                <a:solidFill>
                  <a:srgbClr val="10B981"/>
                </a:solidFill>
                <a:latin typeface="Helvetica Neue"/>
              </a:rPr>
              <a:t>valk-revisit</a:t>
            </a:r>
          </a:p>
        </p:txBody>
      </p:sp>
      <p:sp>
        <p:nvSpPr>
          <p:cNvPr id="7" name="TextBox 6"/>
          <p:cNvSpPr txBox="1"/>
          <p:nvPr/>
        </p:nvSpPr>
        <p:spPr>
          <a:xfrm>
            <a:off x="548640" y="2788920"/>
            <a:ext cx="5486400" cy="3383280"/>
          </a:xfrm>
          <a:prstGeom prst="rect">
            <a:avLst/>
          </a:prstGeom>
          <a:noFill/>
        </p:spPr>
        <p:txBody>
          <a:bodyPr wrap="square" lIns="0" rIns="0" tIns="0" bIns="0">
            <a:spAutoFit/>
          </a:bodyPr>
          <a:lstStyle/>
          <a:p>
            <a:pPr algn="l">
              <a:lnSpc>
                <a:spcPct val="135000"/>
              </a:lnSpc>
            </a:pPr>
            <a:r>
              <a:rPr sz="1200" b="1">
                <a:solidFill>
                  <a:srgbClr val="22D3EE"/>
                </a:solidFill>
                <a:latin typeface="Helvetica Neue"/>
              </a:rPr>
              <a:t> · </a:t>
            </a:r>
            <a:r>
              <a:rPr sz="1200">
                <a:solidFill>
                  <a:srgbClr val="B8B8C8"/>
                </a:solidFill>
                <a:latin typeface="Helvetica Neue"/>
              </a:rPr>
              <a:t>/valk watches for change signals every downstream stage.</a:t>
            </a:r>
          </a:p>
          <a:p>
            <a:pPr algn="l">
              <a:lnSpc>
                <a:spcPct val="135000"/>
              </a:lnSpc>
            </a:pPr>
            <a:r>
              <a:rPr sz="1200" b="1">
                <a:solidFill>
                  <a:srgbClr val="22D3EE"/>
                </a:solidFill>
                <a:latin typeface="Helvetica Neue"/>
              </a:rPr>
              <a:t> · </a:t>
            </a:r>
            <a:r>
              <a:rPr sz="1200">
                <a:solidFill>
                  <a:srgbClr val="B8B8C8"/>
                </a:solidFill>
                <a:latin typeface="Helvetica Neue"/>
              </a:rPr>
              <a:t>Single confirmation prompt — never silent.</a:t>
            </a:r>
          </a:p>
          <a:p>
            <a:pPr algn="l">
              <a:lnSpc>
                <a:spcPct val="135000"/>
              </a:lnSpc>
            </a:pPr>
            <a:r>
              <a:rPr sz="1200" b="1">
                <a:solidFill>
                  <a:srgbClr val="22D3EE"/>
                </a:solidFill>
                <a:latin typeface="Helvetica Neue"/>
              </a:rPr>
              <a:t> · </a:t>
            </a:r>
            <a:r>
              <a:rPr sz="1200">
                <a:solidFill>
                  <a:srgbClr val="B8B8C8"/>
                </a:solidFill>
                <a:latin typeface="Helvetica Neue"/>
              </a:rPr>
              <a:t>valk-revisit writes docs/changes/&lt;ts&gt;-&lt;slug&gt;.md.</a:t>
            </a:r>
          </a:p>
          <a:p>
            <a:pPr algn="l">
              <a:lnSpc>
                <a:spcPct val="135000"/>
              </a:lnSpc>
            </a:pPr>
            <a:r>
              <a:rPr sz="1200" b="1">
                <a:solidFill>
                  <a:srgbClr val="22D3EE"/>
                </a:solidFill>
                <a:latin typeface="Helvetica Neue"/>
              </a:rPr>
              <a:t> · </a:t>
            </a:r>
            <a:r>
              <a:rPr sz="1200">
                <a:solidFill>
                  <a:srgbClr val="B8B8C8"/>
                </a:solidFill>
                <a:latin typeface="Helvetica Neue"/>
              </a:rPr>
              <a:t>Rewinds the stage marker; re-entered skill amends artifacts in place.</a:t>
            </a:r>
          </a:p>
          <a:p>
            <a:pPr algn="l">
              <a:lnSpc>
                <a:spcPct val="135000"/>
              </a:lnSpc>
            </a:pPr>
            <a:r>
              <a:rPr sz="1200" b="1">
                <a:solidFill>
                  <a:srgbClr val="22D3EE"/>
                </a:solidFill>
                <a:latin typeface="Helvetica Neue"/>
              </a:rPr>
              <a:t> · </a:t>
            </a:r>
            <a:r>
              <a:rPr sz="1200">
                <a:solidFill>
                  <a:srgbClr val="B8B8C8"/>
                </a:solidFill>
                <a:latin typeface="Helvetica Neue"/>
              </a:rPr>
              <a:t>Δ change-log entries preserve the trail.</a:t>
            </a:r>
          </a:p>
          <a:p>
            <a:pPr algn="l">
              <a:lnSpc>
                <a:spcPct val="135000"/>
              </a:lnSpc>
            </a:pPr>
            <a:r>
              <a:rPr sz="1200" b="1">
                <a:solidFill>
                  <a:srgbClr val="22D3EE"/>
                </a:solidFill>
                <a:latin typeface="Helvetica Neue"/>
              </a:rPr>
              <a:t> · </a:t>
            </a:r>
            <a:r>
              <a:rPr sz="1200">
                <a:solidFill>
                  <a:srgbClr val="B8B8C8"/>
                </a:solidFill>
                <a:latin typeface="Helvetica Neue"/>
              </a:rPr>
              <a:t>Hard rule: TDD loop-back never `rm`s tests.</a:t>
            </a:r>
          </a:p>
        </p:txBody>
      </p:sp>
      <p:sp>
        <p:nvSpPr>
          <p:cNvPr id="8" name="Rounded Rectangle 7"/>
          <p:cNvSpPr/>
          <p:nvPr/>
        </p:nvSpPr>
        <p:spPr>
          <a:xfrm>
            <a:off x="6263640" y="1691640"/>
            <a:ext cx="5577840" cy="64008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CONCURRENT FLOWS</a:t>
            </a:r>
          </a:p>
        </p:txBody>
      </p:sp>
      <p:sp>
        <p:nvSpPr>
          <p:cNvPr id="9" name="TextBox 8"/>
          <p:cNvSpPr txBox="1"/>
          <p:nvPr/>
        </p:nvSpPr>
        <p:spPr>
          <a:xfrm>
            <a:off x="6309359" y="2404872"/>
            <a:ext cx="5486400" cy="320040"/>
          </a:xfrm>
          <a:prstGeom prst="rect">
            <a:avLst/>
          </a:prstGeom>
          <a:noFill/>
        </p:spPr>
        <p:txBody>
          <a:bodyPr wrap="square" anchor="t" lIns="0" rIns="0" tIns="0" bIns="0">
            <a:spAutoFit/>
          </a:bodyPr>
          <a:lstStyle/>
          <a:p>
            <a:pPr algn="l"/>
            <a:r>
              <a:rPr sz="1100" b="1" i="1">
                <a:solidFill>
                  <a:srgbClr val="22D3EE"/>
                </a:solidFill>
                <a:latin typeface="Helvetica Neue"/>
              </a:rPr>
              <a:t>valk-worktree · valk-land</a:t>
            </a:r>
          </a:p>
        </p:txBody>
      </p:sp>
      <p:sp>
        <p:nvSpPr>
          <p:cNvPr id="10" name="TextBox 9"/>
          <p:cNvSpPr txBox="1"/>
          <p:nvPr/>
        </p:nvSpPr>
        <p:spPr>
          <a:xfrm>
            <a:off x="6309359" y="2788920"/>
            <a:ext cx="5486400" cy="3383280"/>
          </a:xfrm>
          <a:prstGeom prst="rect">
            <a:avLst/>
          </a:prstGeom>
          <a:noFill/>
        </p:spPr>
        <p:txBody>
          <a:bodyPr wrap="square" lIns="0" rIns="0" tIns="0" bIns="0">
            <a:spAutoFit/>
          </a:bodyPr>
          <a:lstStyle/>
          <a:p>
            <a:pPr algn="l">
              <a:lnSpc>
                <a:spcPct val="135000"/>
              </a:lnSpc>
            </a:pPr>
            <a:r>
              <a:rPr sz="1200" b="1">
                <a:solidFill>
                  <a:srgbClr val="22D3EE"/>
                </a:solidFill>
                <a:latin typeface="Helvetica Neue"/>
              </a:rPr>
              <a:t> · </a:t>
            </a:r>
            <a:r>
              <a:rPr sz="1200">
                <a:solidFill>
                  <a:srgbClr val="B8B8C8"/>
                </a:solidFill>
                <a:latin typeface="Helvetica Neue"/>
              </a:rPr>
              <a:t>One Valkyrie flow per terminal — no shared stage marker.</a:t>
            </a:r>
          </a:p>
          <a:p>
            <a:pPr algn="l">
              <a:lnSpc>
                <a:spcPct val="135000"/>
              </a:lnSpc>
            </a:pPr>
            <a:r>
              <a:rPr sz="1200" b="1">
                <a:solidFill>
                  <a:srgbClr val="22D3EE"/>
                </a:solidFill>
                <a:latin typeface="Helvetica Neue"/>
              </a:rPr>
              <a:t> · </a:t>
            </a:r>
            <a:r>
              <a:rPr sz="1200">
                <a:solidFill>
                  <a:srgbClr val="B8B8C8"/>
                </a:solidFill>
                <a:latin typeface="Helvetica Neue"/>
              </a:rPr>
              <a:t>valk-worktree &lt;name&gt;: linked worktree on valk/&lt;name&gt; branch.</a:t>
            </a:r>
          </a:p>
          <a:p>
            <a:pPr algn="l">
              <a:lnSpc>
                <a:spcPct val="135000"/>
              </a:lnSpc>
            </a:pPr>
            <a:r>
              <a:rPr sz="1200" b="1">
                <a:solidFill>
                  <a:srgbClr val="22D3EE"/>
                </a:solidFill>
                <a:latin typeface="Helvetica Neue"/>
              </a:rPr>
              <a:t> · </a:t>
            </a:r>
            <a:r>
              <a:rPr sz="1200">
                <a:solidFill>
                  <a:srgbClr val="B8B8C8"/>
                </a:solidFill>
                <a:latin typeface="Helvetica Neue"/>
              </a:rPr>
              <a:t>Each flow runs its own DESIGN → PRD → ISSUES → TDD.</a:t>
            </a:r>
          </a:p>
          <a:p>
            <a:pPr algn="l">
              <a:lnSpc>
                <a:spcPct val="135000"/>
              </a:lnSpc>
            </a:pPr>
            <a:r>
              <a:rPr sz="1200" b="1">
                <a:solidFill>
                  <a:srgbClr val="22D3EE"/>
                </a:solidFill>
                <a:latin typeface="Helvetica Neue"/>
              </a:rPr>
              <a:t> · </a:t>
            </a:r>
            <a:r>
              <a:rPr sz="1200">
                <a:solidFill>
                  <a:srgbClr val="B8B8C8"/>
                </a:solidFill>
                <a:latin typeface="Helvetica Neue"/>
              </a:rPr>
              <a:t>Independent issue batches run in parallel (one worktree each).</a:t>
            </a:r>
          </a:p>
          <a:p>
            <a:pPr algn="l">
              <a:lnSpc>
                <a:spcPct val="135000"/>
              </a:lnSpc>
            </a:pPr>
            <a:r>
              <a:rPr sz="1200" b="1">
                <a:solidFill>
                  <a:srgbClr val="22D3EE"/>
                </a:solidFill>
                <a:latin typeface="Helvetica Neue"/>
              </a:rPr>
              <a:t> · </a:t>
            </a:r>
            <a:r>
              <a:rPr sz="1200">
                <a:solidFill>
                  <a:srgbClr val="B8B8C8"/>
                </a:solidFill>
                <a:latin typeface="Helvetica Neue"/>
              </a:rPr>
              <a:t>valk-land &lt;name&gt;: race-free integrate-back to main.</a:t>
            </a:r>
          </a:p>
          <a:p>
            <a:pPr algn="l">
              <a:lnSpc>
                <a:spcPct val="135000"/>
              </a:lnSpc>
            </a:pPr>
            <a:r>
              <a:rPr sz="1200" b="1">
                <a:solidFill>
                  <a:srgbClr val="22D3EE"/>
                </a:solidFill>
                <a:latin typeface="Helvetica Neue"/>
              </a:rPr>
              <a:t> · </a:t>
            </a:r>
            <a:r>
              <a:rPr sz="1200">
                <a:solidFill>
                  <a:srgbClr val="B8B8C8"/>
                </a:solidFill>
                <a:latin typeface="Helvetica Neue"/>
              </a:rPr>
              <a:t>Lets one human (or one AFK loop) ship multiple slices at once.</a:t>
            </a:r>
          </a:p>
        </p:txBody>
      </p:sp>
      <p:sp>
        <p:nvSpPr>
          <p:cNvPr id="11" name="TextBox 10"/>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Requirements change · multiple slices in flight · no "resume from scratch".</a:t>
            </a:r>
          </a:p>
        </p:txBody>
      </p:sp>
      <p:sp>
        <p:nvSpPr>
          <p:cNvPr id="12" name="TextBox 11"/>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22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DROP-IN AGENT COMPOSITION</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Crew Shim — Agent Creator at TDD (optional).</a:t>
            </a:r>
          </a:p>
        </p:txBody>
      </p:sp>
      <p:sp>
        <p:nvSpPr>
          <p:cNvPr id="5" name="TextBox 4"/>
          <p:cNvSpPr txBox="1"/>
          <p:nvPr/>
        </p:nvSpPr>
        <p:spPr>
          <a:xfrm>
            <a:off x="640080" y="1554480"/>
            <a:ext cx="10972800" cy="411480"/>
          </a:xfrm>
          <a:prstGeom prst="rect">
            <a:avLst/>
          </a:prstGeom>
          <a:noFill/>
        </p:spPr>
        <p:txBody>
          <a:bodyPr wrap="square" anchor="t" lIns="0" rIns="0" tIns="0" bIns="0">
            <a:spAutoFit/>
          </a:bodyPr>
          <a:lstStyle/>
          <a:p>
            <a:pPr algn="l"/>
            <a:r>
              <a:rPr sz="1500" b="0" i="1">
                <a:solidFill>
                  <a:srgbClr val="10B981"/>
                </a:solidFill>
                <a:latin typeface="Helvetica Neue"/>
              </a:rPr>
              <a:t>.claude/valk-config.md binds a forged crew to one or more stages.</a:t>
            </a:r>
          </a:p>
        </p:txBody>
      </p:sp>
      <p:sp>
        <p:nvSpPr>
          <p:cNvPr id="6" name="TextBox 5"/>
          <p:cNvSpPr txBox="1"/>
          <p:nvPr/>
        </p:nvSpPr>
        <p:spPr>
          <a:xfrm>
            <a:off x="640080" y="2011680"/>
            <a:ext cx="10972800" cy="411480"/>
          </a:xfrm>
          <a:prstGeom prst="rect">
            <a:avLst/>
          </a:prstGeom>
          <a:noFill/>
        </p:spPr>
        <p:txBody>
          <a:bodyPr wrap="square" anchor="t" lIns="0" rIns="0" tIns="0" bIns="0">
            <a:spAutoFit/>
          </a:bodyPr>
          <a:lstStyle/>
          <a:p>
            <a:pPr algn="l"/>
            <a:r>
              <a:rPr sz="1500" b="0" i="1">
                <a:solidFill>
                  <a:srgbClr val="10B981"/>
                </a:solidFill>
                <a:latin typeface="Helvetica Neue"/>
              </a:rPr>
              <a:t>Each stage's vanilla skill becomes "dispatch to bound crew" instead.</a:t>
            </a:r>
          </a:p>
        </p:txBody>
      </p:sp>
      <p:sp>
        <p:nvSpPr>
          <p:cNvPr id="7" name="Rounded Rectangle 6"/>
          <p:cNvSpPr/>
          <p:nvPr/>
        </p:nvSpPr>
        <p:spPr>
          <a:xfrm>
            <a:off x="640080" y="2926080"/>
            <a:ext cx="2377440" cy="9144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300" b="1">
                <a:solidFill>
                  <a:srgbClr val="0A0A12"/>
                </a:solidFill>
                <a:latin typeface="Helvetica Neue"/>
              </a:rPr>
              <a:t>Stage skill
(e.g. /tdd)</a:t>
            </a:r>
          </a:p>
        </p:txBody>
      </p:sp>
      <p:cxnSp>
        <p:nvCxnSpPr>
          <p:cNvPr id="8" name="Connector 7"/>
          <p:cNvCxnSpPr/>
          <p:nvPr/>
        </p:nvCxnSpPr>
        <p:spPr>
          <a:xfrm>
            <a:off x="3108960" y="3383280"/>
            <a:ext cx="640079" cy="0"/>
          </a:xfrm>
          <a:prstGeom prst="line">
            <a:avLst/>
          </a:prstGeom>
          <a:ln w="31750">
            <a:solidFill>
              <a:srgbClr val="B8B8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840480" y="2926080"/>
            <a:ext cx="2194560" cy="914400"/>
          </a:xfrm>
          <a:prstGeom prst="roundRect">
            <a:avLst>
              <a:gd name="adj" fmla="val 15000"/>
            </a:avLst>
          </a:prstGeom>
          <a:solidFill>
            <a:srgbClr val="161622"/>
          </a:solidFill>
          <a:ln w="12700">
            <a:solidFill>
              <a:srgbClr val="333342"/>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300" b="1">
                <a:solidFill>
                  <a:srgbClr val="FFFFFF"/>
                </a:solidFill>
                <a:latin typeface="Helvetica Neue"/>
              </a:rPr>
              <a:t>crew-shim decide</a:t>
            </a:r>
          </a:p>
        </p:txBody>
      </p:sp>
      <p:cxnSp>
        <p:nvCxnSpPr>
          <p:cNvPr id="10" name="Connector 9"/>
          <p:cNvCxnSpPr/>
          <p:nvPr/>
        </p:nvCxnSpPr>
        <p:spPr>
          <a:xfrm flipV="1">
            <a:off x="6126480" y="2743200"/>
            <a:ext cx="731520" cy="411480"/>
          </a:xfrm>
          <a:prstGeom prst="line">
            <a:avLst/>
          </a:prstGeom>
          <a:ln w="31750">
            <a:solidFill>
              <a:srgbClr val="B8B8C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126480" y="3611880"/>
            <a:ext cx="731520" cy="411480"/>
          </a:xfrm>
          <a:prstGeom prst="line">
            <a:avLst/>
          </a:prstGeom>
          <a:ln w="31750">
            <a:solidFill>
              <a:srgbClr val="B8B8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903720" y="2286000"/>
            <a:ext cx="4572000" cy="914400"/>
          </a:xfrm>
          <a:prstGeom prst="roundRect">
            <a:avLst>
              <a:gd name="adj" fmla="val 15000"/>
            </a:avLst>
          </a:prstGeom>
          <a:solidFill>
            <a:srgbClr val="161622"/>
          </a:solidFill>
          <a:ln w="12700">
            <a:solidFill>
              <a:srgbClr val="333342"/>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FFFFFF"/>
                </a:solidFill>
                <a:latin typeface="Helvetica Neue"/>
              </a:rPr>
              <a:t>VANILLA — run stage's stock skill</a:t>
            </a:r>
          </a:p>
        </p:txBody>
      </p:sp>
      <p:sp>
        <p:nvSpPr>
          <p:cNvPr id="13" name="Rounded Rectangle 12"/>
          <p:cNvSpPr/>
          <p:nvPr/>
        </p:nvSpPr>
        <p:spPr>
          <a:xfrm>
            <a:off x="6903720" y="3611880"/>
            <a:ext cx="4572000" cy="137160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CREW — dispatch bound agents per task
(implementer → tester → reviewer-gate)</a:t>
            </a:r>
          </a:p>
        </p:txBody>
      </p:sp>
      <p:sp>
        <p:nvSpPr>
          <p:cNvPr id="14" name="TextBox 13"/>
          <p:cNvSpPr txBox="1"/>
          <p:nvPr/>
        </p:nvSpPr>
        <p:spPr>
          <a:xfrm>
            <a:off x="640080" y="4937760"/>
            <a:ext cx="10972800" cy="1371600"/>
          </a:xfrm>
          <a:prstGeom prst="rect">
            <a:avLst/>
          </a:prstGeom>
          <a:noFill/>
        </p:spPr>
        <p:txBody>
          <a:bodyPr wrap="square" lIns="0" rIns="0" tIns="0" bIns="0">
            <a:spAutoFit/>
          </a:bodyPr>
          <a:lstStyle/>
          <a:p>
            <a:pPr algn="l">
              <a:lnSpc>
                <a:spcPct val="135000"/>
              </a:lnSpc>
            </a:pPr>
            <a:r>
              <a:rPr sz="1300" b="1">
                <a:solidFill>
                  <a:srgbClr val="22D3EE"/>
                </a:solidFill>
                <a:latin typeface="Helvetica Neue"/>
              </a:rPr>
              <a:t> ▸ </a:t>
            </a:r>
            <a:r>
              <a:rPr sz="1300">
                <a:solidFill>
                  <a:srgbClr val="B8B8C8"/>
                </a:solidFill>
                <a:latin typeface="Helvetica Neue"/>
              </a:rPr>
              <a:t>Stage enforcement (order, PRD-REVIEW gate, TDD wall) is unchanged — only the *worker* swaps.</a:t>
            </a:r>
          </a:p>
          <a:p>
            <a:pPr algn="l">
              <a:lnSpc>
                <a:spcPct val="135000"/>
              </a:lnSpc>
            </a:pPr>
            <a:r>
              <a:rPr sz="1300" b="1">
                <a:solidFill>
                  <a:srgbClr val="22D3EE"/>
                </a:solidFill>
                <a:latin typeface="Helvetica Neue"/>
              </a:rPr>
              <a:t> ▸ </a:t>
            </a:r>
            <a:r>
              <a:rPr sz="1300">
                <a:solidFill>
                  <a:srgbClr val="B8B8C8"/>
                </a:solidFill>
                <a:latin typeface="Helvetica Neue"/>
              </a:rPr>
              <a:t>Default = vanilla. No config = no shim. Byte-identical to having no shim at all.</a:t>
            </a:r>
          </a:p>
          <a:p>
            <a:pPr algn="l">
              <a:lnSpc>
                <a:spcPct val="135000"/>
              </a:lnSpc>
            </a:pPr>
            <a:r>
              <a:rPr sz="1300" b="1">
                <a:solidFill>
                  <a:srgbClr val="22D3EE"/>
                </a:solidFill>
                <a:latin typeface="Helvetica Neue"/>
              </a:rPr>
              <a:t> ▸ </a:t>
            </a:r>
            <a:r>
              <a:rPr sz="1300">
                <a:solidFill>
                  <a:srgbClr val="B8B8C8"/>
                </a:solidFill>
                <a:latin typeface="Helvetica Neue"/>
              </a:rPr>
              <a:t>A gating agent (reviewer/security) writing `status: blocked` halts the line.</a:t>
            </a:r>
          </a:p>
        </p:txBody>
      </p:sp>
      <p:sp>
        <p:nvSpPr>
          <p:cNvPr id="15" name="TextBox 14"/>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Authored crews from agent-builder forge plug in here.</a:t>
            </a:r>
          </a:p>
        </p:txBody>
      </p:sp>
      <p:sp>
        <p:nvSpPr>
          <p:cNvPr id="16" name="TextBox 15"/>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23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WHY EACH PIECE PAYS FOR ITSELF</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Compounding effect.</a:t>
            </a:r>
          </a:p>
        </p:txBody>
      </p:sp>
      <p:sp>
        <p:nvSpPr>
          <p:cNvPr id="5" name="Rounded Rectangle 4"/>
          <p:cNvSpPr/>
          <p:nvPr/>
        </p:nvSpPr>
        <p:spPr>
          <a:xfrm>
            <a:off x="548640" y="1691640"/>
            <a:ext cx="1371600" cy="45720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Just Pocock</a:t>
            </a:r>
          </a:p>
        </p:txBody>
      </p:sp>
      <p:sp>
        <p:nvSpPr>
          <p:cNvPr id="6" name="TextBox 5"/>
          <p:cNvSpPr txBox="1"/>
          <p:nvPr/>
        </p:nvSpPr>
        <p:spPr>
          <a:xfrm>
            <a:off x="2103120" y="1783080"/>
            <a:ext cx="7315200" cy="365760"/>
          </a:xfrm>
          <a:prstGeom prst="rect">
            <a:avLst/>
          </a:prstGeom>
          <a:noFill/>
        </p:spPr>
        <p:txBody>
          <a:bodyPr wrap="square" anchor="t" lIns="0" rIns="0" tIns="0" bIns="0">
            <a:spAutoFit/>
          </a:bodyPr>
          <a:lstStyle/>
          <a:p>
            <a:pPr algn="l"/>
            <a:r>
              <a:rPr sz="1200" b="0" i="1">
                <a:solidFill>
                  <a:srgbClr val="B8B8C8"/>
                </a:solidFill>
                <a:latin typeface="Helvetica Neue"/>
              </a:rPr>
              <a:t>stages exist, but every gate is honor-based</a:t>
            </a:r>
          </a:p>
        </p:txBody>
      </p:sp>
      <p:sp>
        <p:nvSpPr>
          <p:cNvPr id="7" name="Rounded Rectangle 6"/>
          <p:cNvSpPr/>
          <p:nvPr/>
        </p:nvSpPr>
        <p:spPr>
          <a:xfrm>
            <a:off x="548640" y="2286000"/>
            <a:ext cx="2286000" cy="45720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 CONTEXT.md</a:t>
            </a:r>
          </a:p>
        </p:txBody>
      </p:sp>
      <p:sp>
        <p:nvSpPr>
          <p:cNvPr id="8" name="TextBox 7"/>
          <p:cNvSpPr txBox="1"/>
          <p:nvPr/>
        </p:nvSpPr>
        <p:spPr>
          <a:xfrm>
            <a:off x="3017520" y="2377440"/>
            <a:ext cx="7315200" cy="365760"/>
          </a:xfrm>
          <a:prstGeom prst="rect">
            <a:avLst/>
          </a:prstGeom>
          <a:noFill/>
        </p:spPr>
        <p:txBody>
          <a:bodyPr wrap="square" anchor="t" lIns="0" rIns="0" tIns="0" bIns="0">
            <a:spAutoFit/>
          </a:bodyPr>
          <a:lstStyle/>
          <a:p>
            <a:pPr algn="l"/>
            <a:r>
              <a:rPr sz="1200" b="0" i="1">
                <a:solidFill>
                  <a:srgbClr val="B8B8C8"/>
                </a:solidFill>
                <a:latin typeface="Helvetica Neue"/>
              </a:rPr>
              <a:t>terms challenged at DESIGN, fuzzy language sharpened</a:t>
            </a:r>
          </a:p>
        </p:txBody>
      </p:sp>
      <p:sp>
        <p:nvSpPr>
          <p:cNvPr id="9" name="Rounded Rectangle 8"/>
          <p:cNvSpPr/>
          <p:nvPr/>
        </p:nvSpPr>
        <p:spPr>
          <a:xfrm>
            <a:off x="548640" y="2880360"/>
            <a:ext cx="3200400" cy="45720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 DOMAIN.md</a:t>
            </a:r>
          </a:p>
        </p:txBody>
      </p:sp>
      <p:sp>
        <p:nvSpPr>
          <p:cNvPr id="10" name="TextBox 9"/>
          <p:cNvSpPr txBox="1"/>
          <p:nvPr/>
        </p:nvSpPr>
        <p:spPr>
          <a:xfrm>
            <a:off x="3931920" y="2971800"/>
            <a:ext cx="7315200" cy="365760"/>
          </a:xfrm>
          <a:prstGeom prst="rect">
            <a:avLst/>
          </a:prstGeom>
          <a:noFill/>
        </p:spPr>
        <p:txBody>
          <a:bodyPr wrap="square" anchor="t" lIns="0" rIns="0" tIns="0" bIns="0">
            <a:spAutoFit/>
          </a:bodyPr>
          <a:lstStyle/>
          <a:p>
            <a:pPr algn="l"/>
            <a:r>
              <a:rPr sz="1200" b="0" i="1">
                <a:solidFill>
                  <a:srgbClr val="B8B8C8"/>
                </a:solidFill>
                <a:latin typeface="Helvetica Neue"/>
              </a:rPr>
              <a:t>grilling refuses to wander out of bounds</a:t>
            </a:r>
          </a:p>
        </p:txBody>
      </p:sp>
      <p:sp>
        <p:nvSpPr>
          <p:cNvPr id="11" name="Rounded Rectangle 10"/>
          <p:cNvSpPr/>
          <p:nvPr/>
        </p:nvSpPr>
        <p:spPr>
          <a:xfrm>
            <a:off x="548640" y="3474720"/>
            <a:ext cx="4114800" cy="45720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 PRODUCT-MAP.md</a:t>
            </a:r>
          </a:p>
        </p:txBody>
      </p:sp>
      <p:sp>
        <p:nvSpPr>
          <p:cNvPr id="12" name="TextBox 11"/>
          <p:cNvSpPr txBox="1"/>
          <p:nvPr/>
        </p:nvSpPr>
        <p:spPr>
          <a:xfrm>
            <a:off x="4846320" y="3566160"/>
            <a:ext cx="7315200" cy="365760"/>
          </a:xfrm>
          <a:prstGeom prst="rect">
            <a:avLst/>
          </a:prstGeom>
          <a:noFill/>
        </p:spPr>
        <p:txBody>
          <a:bodyPr wrap="square" anchor="t" lIns="0" rIns="0" tIns="0" bIns="0">
            <a:spAutoFit/>
          </a:bodyPr>
          <a:lstStyle/>
          <a:p>
            <a:pPr algn="l"/>
            <a:r>
              <a:rPr sz="1200" b="0" i="1">
                <a:solidFill>
                  <a:srgbClr val="B8B8C8"/>
                </a:solidFill>
                <a:latin typeface="Helvetica Neue"/>
              </a:rPr>
              <a:t>cross-repo contracts named before any code</a:t>
            </a:r>
          </a:p>
        </p:txBody>
      </p:sp>
      <p:sp>
        <p:nvSpPr>
          <p:cNvPr id="13" name="Rounded Rectangle 12"/>
          <p:cNvSpPr/>
          <p:nvPr/>
        </p:nvSpPr>
        <p:spPr>
          <a:xfrm>
            <a:off x="548640" y="4069080"/>
            <a:ext cx="5029200" cy="45720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 intent.md</a:t>
            </a:r>
          </a:p>
        </p:txBody>
      </p:sp>
      <p:sp>
        <p:nvSpPr>
          <p:cNvPr id="14" name="TextBox 13"/>
          <p:cNvSpPr txBox="1"/>
          <p:nvPr/>
        </p:nvSpPr>
        <p:spPr>
          <a:xfrm>
            <a:off x="5760720" y="4160520"/>
            <a:ext cx="7315200" cy="365760"/>
          </a:xfrm>
          <a:prstGeom prst="rect">
            <a:avLst/>
          </a:prstGeom>
          <a:noFill/>
        </p:spPr>
        <p:txBody>
          <a:bodyPr wrap="square" anchor="t" lIns="0" rIns="0" tIns="0" bIns="0">
            <a:spAutoFit/>
          </a:bodyPr>
          <a:lstStyle/>
          <a:p>
            <a:pPr algn="l"/>
            <a:r>
              <a:rPr sz="1200" b="0" i="1">
                <a:solidFill>
                  <a:srgbClr val="B8B8C8"/>
                </a:solidFill>
                <a:latin typeface="Helvetica Neue"/>
              </a:rPr>
              <a:t>PRD must trace back to a locked why</a:t>
            </a:r>
          </a:p>
        </p:txBody>
      </p:sp>
      <p:sp>
        <p:nvSpPr>
          <p:cNvPr id="15" name="Rounded Rectangle 14"/>
          <p:cNvSpPr/>
          <p:nvPr/>
        </p:nvSpPr>
        <p:spPr>
          <a:xfrm>
            <a:off x="548640" y="4663440"/>
            <a:ext cx="5943600" cy="45720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 ADRs</a:t>
            </a:r>
          </a:p>
        </p:txBody>
      </p:sp>
      <p:sp>
        <p:nvSpPr>
          <p:cNvPr id="16" name="TextBox 15"/>
          <p:cNvSpPr txBox="1"/>
          <p:nvPr/>
        </p:nvSpPr>
        <p:spPr>
          <a:xfrm>
            <a:off x="6675120" y="4754880"/>
            <a:ext cx="7315200" cy="365760"/>
          </a:xfrm>
          <a:prstGeom prst="rect">
            <a:avLst/>
          </a:prstGeom>
          <a:noFill/>
        </p:spPr>
        <p:txBody>
          <a:bodyPr wrap="square" anchor="t" lIns="0" rIns="0" tIns="0" bIns="0">
            <a:spAutoFit/>
          </a:bodyPr>
          <a:lstStyle/>
          <a:p>
            <a:pPr algn="l"/>
            <a:r>
              <a:rPr sz="1200" b="0" i="1">
                <a:solidFill>
                  <a:srgbClr val="B8B8C8"/>
                </a:solidFill>
                <a:latin typeface="Helvetica Neue"/>
              </a:rPr>
              <a:t>expensive decisions outlive the conversation</a:t>
            </a:r>
          </a:p>
        </p:txBody>
      </p:sp>
      <p:sp>
        <p:nvSpPr>
          <p:cNvPr id="17" name="Rounded Rectangle 16"/>
          <p:cNvSpPr/>
          <p:nvPr/>
        </p:nvSpPr>
        <p:spPr>
          <a:xfrm>
            <a:off x="548640" y="5257800"/>
            <a:ext cx="7315200" cy="45720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200" b="1">
                <a:solidFill>
                  <a:srgbClr val="0A0A12"/>
                </a:solidFill>
                <a:latin typeface="Helvetica Neue"/>
              </a:rPr>
              <a:t>+ Valkyrie harness (hooks, gates, /valk)</a:t>
            </a:r>
          </a:p>
        </p:txBody>
      </p:sp>
      <p:sp>
        <p:nvSpPr>
          <p:cNvPr id="18" name="TextBox 17"/>
          <p:cNvSpPr txBox="1"/>
          <p:nvPr/>
        </p:nvSpPr>
        <p:spPr>
          <a:xfrm>
            <a:off x="8046720" y="5349240"/>
            <a:ext cx="7315200" cy="365760"/>
          </a:xfrm>
          <a:prstGeom prst="rect">
            <a:avLst/>
          </a:prstGeom>
          <a:noFill/>
        </p:spPr>
        <p:txBody>
          <a:bodyPr wrap="square" anchor="t" lIns="0" rIns="0" tIns="0" bIns="0">
            <a:spAutoFit/>
          </a:bodyPr>
          <a:lstStyle/>
          <a:p>
            <a:pPr algn="l"/>
            <a:r>
              <a:rPr sz="1200" b="0" i="1">
                <a:solidFill>
                  <a:srgbClr val="B8B8C8"/>
                </a:solidFill>
                <a:latin typeface="Helvetica Neue"/>
              </a:rPr>
              <a:t>mechanical wall + HITL gates + observability</a:t>
            </a:r>
          </a:p>
        </p:txBody>
      </p:sp>
      <p:sp>
        <p:nvSpPr>
          <p:cNvPr id="19" name="TextBox 18"/>
          <p:cNvSpPr txBox="1"/>
          <p:nvPr/>
        </p:nvSpPr>
        <p:spPr>
          <a:xfrm>
            <a:off x="640080" y="6126480"/>
            <a:ext cx="10972800" cy="365760"/>
          </a:xfrm>
          <a:prstGeom prst="rect">
            <a:avLst/>
          </a:prstGeom>
          <a:noFill/>
        </p:spPr>
        <p:txBody>
          <a:bodyPr wrap="square" anchor="t" lIns="0" rIns="0" tIns="0" bIns="0">
            <a:spAutoFit/>
          </a:bodyPr>
          <a:lstStyle/>
          <a:p>
            <a:pPr algn="ctr"/>
            <a:r>
              <a:rPr sz="1100" b="0" i="1">
                <a:solidFill>
                  <a:srgbClr val="6A6A80"/>
                </a:solidFill>
                <a:latin typeface="Helvetica Neue"/>
              </a:rPr>
              <a:t>Each row above is opt-in. Don't write the docs you don't want — but each one strengthens every gate above it.</a:t>
            </a:r>
          </a:p>
        </p:txBody>
      </p:sp>
      <p:sp>
        <p:nvSpPr>
          <p:cNvPr id="20" name="TextBox 19"/>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"Enforcement scales with what you write."</a:t>
            </a:r>
          </a:p>
        </p:txBody>
      </p:sp>
      <p:sp>
        <p:nvSpPr>
          <p:cNvPr id="21" name="TextBox 20"/>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24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THE BET</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Takeaway.</a:t>
            </a:r>
          </a:p>
        </p:txBody>
      </p:sp>
      <p:sp>
        <p:nvSpPr>
          <p:cNvPr id="5" name="TextBox 4"/>
          <p:cNvSpPr txBox="1"/>
          <p:nvPr/>
        </p:nvSpPr>
        <p:spPr>
          <a:xfrm>
            <a:off x="640080" y="1737360"/>
            <a:ext cx="10972800" cy="640080"/>
          </a:xfrm>
          <a:prstGeom prst="rect">
            <a:avLst/>
          </a:prstGeom>
          <a:noFill/>
        </p:spPr>
        <p:txBody>
          <a:bodyPr wrap="square" anchor="t" lIns="0" rIns="0" tIns="0" bIns="0">
            <a:spAutoFit/>
          </a:bodyPr>
          <a:lstStyle/>
          <a:p>
            <a:pPr algn="l"/>
            <a:r>
              <a:rPr sz="2600" b="1" i="0">
                <a:solidFill>
                  <a:srgbClr val="F59E0B"/>
                </a:solidFill>
                <a:latin typeface="Helvetica Neue"/>
              </a:rPr>
              <a:t>Pocock gave us the skill primitives.</a:t>
            </a:r>
          </a:p>
        </p:txBody>
      </p:sp>
      <p:sp>
        <p:nvSpPr>
          <p:cNvPr id="6" name="TextBox 5"/>
          <p:cNvSpPr txBox="1"/>
          <p:nvPr/>
        </p:nvSpPr>
        <p:spPr>
          <a:xfrm>
            <a:off x="640080" y="2560320"/>
            <a:ext cx="10972800" cy="640080"/>
          </a:xfrm>
          <a:prstGeom prst="rect">
            <a:avLst/>
          </a:prstGeom>
          <a:noFill/>
        </p:spPr>
        <p:txBody>
          <a:bodyPr wrap="square" anchor="t" lIns="0" rIns="0" tIns="0" bIns="0">
            <a:spAutoFit/>
          </a:bodyPr>
          <a:lstStyle/>
          <a:p>
            <a:pPr algn="l"/>
            <a:r>
              <a:rPr sz="2400" b="1" i="0">
                <a:solidFill>
                  <a:srgbClr val="22D3EE"/>
                </a:solidFill>
                <a:latin typeface="Helvetica Neue"/>
              </a:rPr>
              <a:t>Valkyrie adds enforcement, gates, observability, ergonomics, telemetry.</a:t>
            </a:r>
          </a:p>
        </p:txBody>
      </p:sp>
      <p:sp>
        <p:nvSpPr>
          <p:cNvPr id="7" name="TextBox 6"/>
          <p:cNvSpPr txBox="1"/>
          <p:nvPr/>
        </p:nvSpPr>
        <p:spPr>
          <a:xfrm>
            <a:off x="640080" y="3657600"/>
            <a:ext cx="10972800" cy="2286000"/>
          </a:xfrm>
          <a:prstGeom prst="rect">
            <a:avLst/>
          </a:prstGeom>
          <a:noFill/>
        </p:spPr>
        <p:txBody>
          <a:bodyPr wrap="square" anchor="t" lIns="0" rIns="0" tIns="0" bIns="0">
            <a:spAutoFit/>
          </a:bodyPr>
          <a:lstStyle/>
          <a:p>
            <a:pPr algn="l"/>
            <a:r>
              <a:rPr sz="1600" b="0" i="0">
                <a:solidFill>
                  <a:srgbClr val="B8B8C8"/>
                </a:solidFill>
                <a:latin typeface="Helvetica Neue"/>
              </a:rPr>
              <a:t>The workflow is the product — not the model.</a:t>
            </a:r>
          </a:p>
          <a:p>
            <a:pPr algn="l"/>
            <a:r>
              <a:rPr sz="1600" b="0" i="0">
                <a:solidFill>
                  <a:srgbClr val="B8B8C8"/>
                </a:solidFill>
                <a:latin typeface="Helvetica Neue"/>
              </a:rPr>
              <a:t/>
            </a:r>
          </a:p>
          <a:p>
            <a:pPr algn="l"/>
            <a:r>
              <a:rPr sz="1600" b="0" i="0">
                <a:solidFill>
                  <a:srgbClr val="B8B8C8"/>
                </a:solidFill>
                <a:latin typeface="Helvetica Neue"/>
              </a:rPr>
              <a:t>We adopt the best community skills, then layer mechanical guarantees on top.</a:t>
            </a:r>
          </a:p>
          <a:p>
            <a:pPr algn="l"/>
            <a:r>
              <a:rPr sz="1600" b="0" i="0">
                <a:solidFill>
                  <a:srgbClr val="B8B8C8"/>
                </a:solidFill>
                <a:latin typeface="Helvetica Neue"/>
              </a:rPr>
              <a:t>Every Valkyrie addition is opt-in. Every addition compounds with the others.</a:t>
            </a:r>
          </a:p>
          <a:p>
            <a:pPr algn="l"/>
            <a:r>
              <a:rPr sz="1600" b="0" i="0">
                <a:solidFill>
                  <a:srgbClr val="B8B8C8"/>
                </a:solidFill>
                <a:latin typeface="Helvetica Neue"/>
              </a:rPr>
              <a:t>Built incrementally from real dogfooding — feature added every time the workflow leaked.</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What you actually take to your team.</a:t>
            </a:r>
          </a:p>
        </p:txBody>
      </p:sp>
      <p:sp>
        <p:nvSpPr>
          <p:cNvPr id="9" name="TextBox 8"/>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WHAT'S NEXT</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Roadmap.</a:t>
            </a:r>
          </a:p>
        </p:txBody>
      </p:sp>
      <p:sp>
        <p:nvSpPr>
          <p:cNvPr id="5" name="Rounded Rectangle 4"/>
          <p:cNvSpPr/>
          <p:nvPr/>
        </p:nvSpPr>
        <p:spPr>
          <a:xfrm>
            <a:off x="640080" y="1691640"/>
            <a:ext cx="3657600" cy="960120"/>
          </a:xfrm>
          <a:prstGeom prst="roundRect">
            <a:avLst>
              <a:gd name="adj" fmla="val 15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Auto-PR generation via Azure DevOps</a:t>
            </a:r>
          </a:p>
        </p:txBody>
      </p:sp>
      <p:sp>
        <p:nvSpPr>
          <p:cNvPr id="6" name="TextBox 5"/>
          <p:cNvSpPr txBox="1"/>
          <p:nvPr/>
        </p:nvSpPr>
        <p:spPr>
          <a:xfrm>
            <a:off x="4480560" y="1783080"/>
            <a:ext cx="7315200" cy="914400"/>
          </a:xfrm>
          <a:prstGeom prst="rect">
            <a:avLst/>
          </a:prstGeom>
          <a:noFill/>
        </p:spPr>
        <p:txBody>
          <a:bodyPr wrap="square" anchor="t" lIns="0" rIns="0" tIns="0" bIns="0">
            <a:spAutoFit/>
          </a:bodyPr>
          <a:lstStyle/>
          <a:p>
            <a:pPr algn="l"/>
            <a:r>
              <a:rPr sz="1200" b="0" i="0">
                <a:solidFill>
                  <a:srgbClr val="B8B8C8"/>
                </a:solidFill>
                <a:latin typeface="Helvetica Neue"/>
              </a:rPr>
              <a:t>`pr_skill: to-azure-pr` already plugs into /tdd's completion gate.</a:t>
            </a:r>
          </a:p>
          <a:p>
            <a:pPr algn="l"/>
            <a:r>
              <a:rPr sz="1200" b="0" i="0">
                <a:solidFill>
                  <a:srgbClr val="B8B8C8"/>
                </a:solidFill>
                <a:latin typeface="Helvetica Neue"/>
              </a:rPr>
              <a:t>Next: write the skill itself.</a:t>
            </a:r>
          </a:p>
          <a:p>
            <a:pPr algn="l"/>
            <a:r>
              <a:rPr sz="1200" b="0" i="0">
                <a:solidFill>
                  <a:srgbClr val="B8B8C8"/>
                </a:solidFill>
                <a:latin typeface="Helvetica Neue"/>
              </a:rPr>
              <a:t>Linked work-item, branch convention, CI wait.</a:t>
            </a:r>
          </a:p>
        </p:txBody>
      </p:sp>
      <p:sp>
        <p:nvSpPr>
          <p:cNvPr id="7" name="Rounded Rectangle 6"/>
          <p:cNvSpPr/>
          <p:nvPr/>
        </p:nvSpPr>
        <p:spPr>
          <a:xfrm>
            <a:off x="640080" y="2834640"/>
            <a:ext cx="3657600" cy="960120"/>
          </a:xfrm>
          <a:prstGeom prst="roundRect">
            <a:avLst>
              <a:gd name="adj" fmla="val 15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Auto-documentation on commit</a:t>
            </a:r>
          </a:p>
        </p:txBody>
      </p:sp>
      <p:sp>
        <p:nvSpPr>
          <p:cNvPr id="8" name="TextBox 7"/>
          <p:cNvSpPr txBox="1"/>
          <p:nvPr/>
        </p:nvSpPr>
        <p:spPr>
          <a:xfrm>
            <a:off x="4480560" y="2926080"/>
            <a:ext cx="7315200" cy="914400"/>
          </a:xfrm>
          <a:prstGeom prst="rect">
            <a:avLst/>
          </a:prstGeom>
          <a:noFill/>
        </p:spPr>
        <p:txBody>
          <a:bodyPr wrap="square" anchor="t" lIns="0" rIns="0" tIns="0" bIns="0">
            <a:spAutoFit/>
          </a:bodyPr>
          <a:lstStyle/>
          <a:p>
            <a:pPr algn="l"/>
            <a:r>
              <a:rPr sz="1200" b="0" i="0">
                <a:solidFill>
                  <a:srgbClr val="B8B8C8"/>
                </a:solidFill>
                <a:latin typeface="Helvetica Neue"/>
              </a:rPr>
              <a:t>PostCommit skill that updates DOMAIN.md / CONTEXT.md / READMEs whenever code lands.</a:t>
            </a:r>
          </a:p>
          <a:p>
            <a:pPr algn="l"/>
            <a:r>
              <a:rPr sz="1200" b="0" i="0">
                <a:solidFill>
                  <a:srgbClr val="B8B8C8"/>
                </a:solidFill>
                <a:latin typeface="Helvetica Neue"/>
              </a:rPr>
              <a:t>Codebase docs stay current automatically.</a:t>
            </a:r>
          </a:p>
        </p:txBody>
      </p:sp>
      <p:sp>
        <p:nvSpPr>
          <p:cNvPr id="9" name="Rounded Rectangle 8"/>
          <p:cNvSpPr/>
          <p:nvPr/>
        </p:nvSpPr>
        <p:spPr>
          <a:xfrm>
            <a:off x="640080" y="3977639"/>
            <a:ext cx="3657600" cy="960120"/>
          </a:xfrm>
          <a:prstGeom prst="roundRect">
            <a:avLst>
              <a:gd name="adj" fmla="val 15000"/>
            </a:avLst>
          </a:prstGeom>
          <a:solidFill>
            <a:srgbClr val="22D3E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Org-level DOMAIN / CONTEXT / PRODUCT-MAP lockdown</a:t>
            </a:r>
          </a:p>
        </p:txBody>
      </p:sp>
      <p:sp>
        <p:nvSpPr>
          <p:cNvPr id="10" name="TextBox 9"/>
          <p:cNvSpPr txBox="1"/>
          <p:nvPr/>
        </p:nvSpPr>
        <p:spPr>
          <a:xfrm>
            <a:off x="4480560" y="4069079"/>
            <a:ext cx="7315200" cy="914400"/>
          </a:xfrm>
          <a:prstGeom prst="rect">
            <a:avLst/>
          </a:prstGeom>
          <a:noFill/>
        </p:spPr>
        <p:txBody>
          <a:bodyPr wrap="square" anchor="t" lIns="0" rIns="0" tIns="0" bIns="0">
            <a:spAutoFit/>
          </a:bodyPr>
          <a:lstStyle/>
          <a:p>
            <a:pPr algn="l"/>
            <a:r>
              <a:rPr sz="1200" b="0" i="0">
                <a:solidFill>
                  <a:srgbClr val="B8B8C8"/>
                </a:solidFill>
                <a:latin typeface="Helvetica Neue"/>
              </a:rPr>
              <a:t>Org-wide templates for the three load-bearing docs.</a:t>
            </a:r>
          </a:p>
          <a:p>
            <a:pPr algn="l"/>
            <a:r>
              <a:rPr sz="1200" b="0" i="0">
                <a:solidFill>
                  <a:srgbClr val="B8B8C8"/>
                </a:solidFill>
                <a:latin typeface="Helvetica Neue"/>
              </a:rPr>
              <a:t>New repos get the skeleton on first /valk.</a:t>
            </a:r>
          </a:p>
        </p:txBody>
      </p:sp>
      <p:sp>
        <p:nvSpPr>
          <p:cNvPr id="11" name="Rounded Rectangle 10"/>
          <p:cNvSpPr/>
          <p:nvPr/>
        </p:nvSpPr>
        <p:spPr>
          <a:xfrm>
            <a:off x="640080" y="5120640"/>
            <a:ext cx="3657600" cy="960120"/>
          </a:xfrm>
          <a:prstGeom prst="roundRect">
            <a:avLst>
              <a:gd name="adj" fmla="val 15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73152" rIns="73152" tIns="54864" bIns="54864" wrap="square"/>
          <a:lstStyle/>
          <a:p>
            <a:pPr algn="ctr"/>
            <a:r>
              <a:rPr sz="1400" b="1">
                <a:solidFill>
                  <a:srgbClr val="0A0A12"/>
                </a:solidFill>
                <a:latin typeface="Helvetica Neue"/>
              </a:rPr>
              <a:t>Profile system (team-specific variants)</a:t>
            </a:r>
          </a:p>
        </p:txBody>
      </p:sp>
      <p:sp>
        <p:nvSpPr>
          <p:cNvPr id="12" name="TextBox 11"/>
          <p:cNvSpPr txBox="1"/>
          <p:nvPr/>
        </p:nvSpPr>
        <p:spPr>
          <a:xfrm>
            <a:off x="4480560" y="5212079"/>
            <a:ext cx="7315200" cy="914400"/>
          </a:xfrm>
          <a:prstGeom prst="rect">
            <a:avLst/>
          </a:prstGeom>
          <a:noFill/>
        </p:spPr>
        <p:txBody>
          <a:bodyPr wrap="square" anchor="t" lIns="0" rIns="0" tIns="0" bIns="0">
            <a:spAutoFit/>
          </a:bodyPr>
          <a:lstStyle/>
          <a:p>
            <a:pPr algn="l"/>
            <a:r>
              <a:rPr sz="1200" b="0" i="0">
                <a:solidFill>
                  <a:srgbClr val="B8B8C8"/>
                </a:solidFill>
                <a:latin typeface="Helvetica Neue"/>
              </a:rPr>
              <a:t>profiles/azure-devops, profiles/&lt;team&gt;/ layered on the baseline.</a:t>
            </a:r>
          </a:p>
          <a:p>
            <a:pPr algn="l"/>
            <a:r>
              <a:rPr sz="1200" b="0" i="0">
                <a:solidFill>
                  <a:srgbClr val="B8B8C8"/>
                </a:solidFill>
                <a:latin typeface="Helvetica Neue"/>
              </a:rPr>
              <a:t>Keeps Valkyrie tool-agnostic by default.</a:t>
            </a:r>
          </a:p>
        </p:txBody>
      </p:sp>
      <p:sp>
        <p:nvSpPr>
          <p:cNvPr id="13" name="TextBox 12"/>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Each item is a layer on the existing base — same opt-in spirit.</a:t>
            </a:r>
          </a:p>
        </p:txBody>
      </p:sp>
      <p:sp>
        <p:nvSpPr>
          <p:cNvPr id="14" name="TextBox 13"/>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Rectangle 1"/>
          <p:cNvSpPr/>
          <p:nvPr/>
        </p:nvSpPr>
        <p:spPr>
          <a:xfrm>
            <a:off x="548640" y="502920"/>
            <a:ext cx="45720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84048"/>
            <a:ext cx="7315200" cy="274320"/>
          </a:xfrm>
          <a:prstGeom prst="rect">
            <a:avLst/>
          </a:prstGeom>
          <a:noFill/>
        </p:spPr>
        <p:txBody>
          <a:bodyPr wrap="square" anchor="t" lIns="0" rIns="0" tIns="0" bIns="0">
            <a:spAutoFit/>
          </a:bodyPr>
          <a:lstStyle/>
          <a:p>
            <a:pPr algn="l"/>
            <a:r>
              <a:rPr sz="1000" b="1" i="0">
                <a:solidFill>
                  <a:srgbClr val="22D3EE"/>
                </a:solidFill>
                <a:latin typeface="Helvetica Neue"/>
              </a:rPr>
              <a:t>SURVEY OF THE REST</a:t>
            </a:r>
          </a:p>
        </p:txBody>
      </p:sp>
      <p:sp>
        <p:nvSpPr>
          <p:cNvPr id="4" name="TextBox 3"/>
          <p:cNvSpPr txBox="1"/>
          <p:nvPr/>
        </p:nvSpPr>
        <p:spPr>
          <a:xfrm>
            <a:off x="548640" y="621792"/>
            <a:ext cx="10972800" cy="640080"/>
          </a:xfrm>
          <a:prstGeom prst="rect">
            <a:avLst/>
          </a:prstGeom>
          <a:noFill/>
        </p:spPr>
        <p:txBody>
          <a:bodyPr wrap="square" anchor="t" lIns="0" rIns="0" tIns="0" bIns="0">
            <a:spAutoFit/>
          </a:bodyPr>
          <a:lstStyle/>
          <a:p>
            <a:pPr algn="l"/>
            <a:r>
              <a:rPr sz="3000" b="1" i="0">
                <a:solidFill>
                  <a:srgbClr val="FFFFFF"/>
                </a:solidFill>
                <a:latin typeface="Helvetica Neue"/>
              </a:rPr>
              <a:t>Other pieces worth knowing.</a:t>
            </a:r>
          </a:p>
        </p:txBody>
      </p:sp>
      <p:sp>
        <p:nvSpPr>
          <p:cNvPr id="5" name="TextBox 4"/>
          <p:cNvSpPr txBox="1"/>
          <p:nvPr/>
        </p:nvSpPr>
        <p:spPr>
          <a:xfrm>
            <a:off x="502920" y="1554480"/>
            <a:ext cx="5669280" cy="5029200"/>
          </a:xfrm>
          <a:prstGeom prst="rect">
            <a:avLst/>
          </a:prstGeom>
          <a:noFill/>
        </p:spPr>
        <p:txBody>
          <a:bodyPr wrap="square" lIns="0" rIns="0" tIns="0" bIns="0">
            <a:spAutoFit/>
          </a:bodyPr>
          <a:lstStyle/>
          <a:p>
            <a:pPr algn="l">
              <a:lnSpc>
                <a:spcPct val="140000"/>
              </a:lnSpc>
            </a:pPr>
            <a:r>
              <a:rPr sz="1300" b="1">
                <a:solidFill>
                  <a:srgbClr val="22D3EE"/>
                </a:solidFill>
                <a:latin typeface="Helvetica Neue"/>
              </a:rPr>
              <a:t> ▸ </a:t>
            </a:r>
            <a:r>
              <a:rPr sz="1300">
                <a:solidFill>
                  <a:srgbClr val="B8B8C8"/>
                </a:solidFill>
                <a:latin typeface="Helvetica Neue"/>
              </a:rPr>
              <a:t>valk-worktree / valk-land — concurrent flows on one checkout.</a:t>
            </a:r>
          </a:p>
          <a:p>
            <a:pPr algn="l">
              <a:lnSpc>
                <a:spcPct val="140000"/>
              </a:lnSpc>
            </a:pPr>
            <a:r>
              <a:rPr sz="1300" b="1">
                <a:solidFill>
                  <a:srgbClr val="22D3EE"/>
                </a:solidFill>
                <a:latin typeface="Helvetica Neue"/>
              </a:rPr>
              <a:t> ▸ </a:t>
            </a:r>
            <a:r>
              <a:rPr sz="1300">
                <a:solidFill>
                  <a:srgbClr val="B8B8C8"/>
                </a:solidFill>
                <a:latin typeface="Helvetica Neue"/>
              </a:rPr>
              <a:t>valk-revisit — mid-stream loop-back (the script behind /valk's auto-detection).</a:t>
            </a:r>
          </a:p>
          <a:p>
            <a:pPr algn="l">
              <a:lnSpc>
                <a:spcPct val="140000"/>
              </a:lnSpc>
            </a:pPr>
            <a:r>
              <a:rPr sz="1300" b="1">
                <a:solidFill>
                  <a:srgbClr val="22D3EE"/>
                </a:solidFill>
                <a:latin typeface="Helvetica Neue"/>
              </a:rPr>
              <a:t> ▸ </a:t>
            </a:r>
            <a:r>
              <a:rPr sz="1300">
                <a:solidFill>
                  <a:srgbClr val="B8B8C8"/>
                </a:solidFill>
                <a:latin typeface="Helvetica Neue"/>
              </a:rPr>
              <a:t>valk-tdd-gate.sh — the PreToolUse mechanical wall.</a:t>
            </a:r>
          </a:p>
          <a:p>
            <a:pPr algn="l">
              <a:lnSpc>
                <a:spcPct val="140000"/>
              </a:lnSpc>
            </a:pPr>
            <a:r>
              <a:rPr sz="1300" b="1">
                <a:solidFill>
                  <a:srgbClr val="22D3EE"/>
                </a:solidFill>
                <a:latin typeface="Helvetica Neue"/>
              </a:rPr>
              <a:t> ▸ </a:t>
            </a:r>
            <a:r>
              <a:rPr sz="1300">
                <a:solidFill>
                  <a:srgbClr val="B8B8C8"/>
                </a:solidFill>
                <a:latin typeface="Helvetica Neue"/>
              </a:rPr>
              <a:t>valk-guard.sh — UserPromptSubmit nudge into /valk.</a:t>
            </a:r>
          </a:p>
          <a:p>
            <a:pPr algn="l">
              <a:lnSpc>
                <a:spcPct val="140000"/>
              </a:lnSpc>
            </a:pPr>
            <a:r>
              <a:rPr sz="1300" b="1">
                <a:solidFill>
                  <a:srgbClr val="22D3EE"/>
                </a:solidFill>
                <a:latin typeface="Helvetica Neue"/>
              </a:rPr>
              <a:t> ▸ </a:t>
            </a:r>
            <a:r>
              <a:rPr sz="1300">
                <a:solidFill>
                  <a:srgbClr val="B8B8C8"/>
                </a:solidFill>
                <a:latin typeface="Helvetica Neue"/>
              </a:rPr>
              <a:t>valk-telemetry.sh — PostToolUse audit log.</a:t>
            </a:r>
          </a:p>
          <a:p>
            <a:pPr algn="l">
              <a:lnSpc>
                <a:spcPct val="140000"/>
              </a:lnSpc>
            </a:pPr>
            <a:r>
              <a:rPr sz="1300" b="1">
                <a:solidFill>
                  <a:srgbClr val="22D3EE"/>
                </a:solidFill>
                <a:latin typeface="Helvetica Neue"/>
              </a:rPr>
              <a:t> ▸ </a:t>
            </a:r>
            <a:r>
              <a:rPr sz="1300">
                <a:solidFill>
                  <a:srgbClr val="B8B8C8"/>
                </a:solidFill>
                <a:latin typeface="Helvetica Neue"/>
              </a:rPr>
              <a:t>/zoom-out — escape-hatch skill to re-orient on unfamiliar code.</a:t>
            </a:r>
          </a:p>
          <a:p>
            <a:pPr algn="l">
              <a:lnSpc>
                <a:spcPct val="140000"/>
              </a:lnSpc>
            </a:pPr>
            <a:r>
              <a:rPr sz="1300" b="1">
                <a:solidFill>
                  <a:srgbClr val="22D3EE"/>
                </a:solidFill>
                <a:latin typeface="Helvetica Neue"/>
              </a:rPr>
              <a:t> ▸ </a:t>
            </a:r>
            <a:r>
              <a:rPr sz="1300">
                <a:solidFill>
                  <a:srgbClr val="B8B8C8"/>
                </a:solidFill>
                <a:latin typeface="Helvetica Neue"/>
              </a:rPr>
              <a:t>/refactor-spaghetti — find deepening opportunities in tangled code.</a:t>
            </a:r>
          </a:p>
        </p:txBody>
      </p:sp>
      <p:sp>
        <p:nvSpPr>
          <p:cNvPr id="6" name="TextBox 5"/>
          <p:cNvSpPr txBox="1"/>
          <p:nvPr/>
        </p:nvSpPr>
        <p:spPr>
          <a:xfrm>
            <a:off x="6355080" y="1554480"/>
            <a:ext cx="5669280" cy="5029200"/>
          </a:xfrm>
          <a:prstGeom prst="rect">
            <a:avLst/>
          </a:prstGeom>
          <a:noFill/>
        </p:spPr>
        <p:txBody>
          <a:bodyPr wrap="square" lIns="0" rIns="0" tIns="0" bIns="0">
            <a:spAutoFit/>
          </a:bodyPr>
          <a:lstStyle/>
          <a:p>
            <a:pPr algn="l">
              <a:lnSpc>
                <a:spcPct val="140000"/>
              </a:lnSpc>
            </a:pPr>
            <a:r>
              <a:rPr sz="1300" b="1">
                <a:solidFill>
                  <a:srgbClr val="22D3EE"/>
                </a:solidFill>
                <a:latin typeface="Helvetica Neue"/>
              </a:rPr>
              <a:t> ▸ </a:t>
            </a:r>
            <a:r>
              <a:rPr sz="1300">
                <a:solidFill>
                  <a:srgbClr val="B8B8C8"/>
                </a:solidFill>
                <a:latin typeface="Helvetica Neue"/>
              </a:rPr>
              <a:t>install.sh — idempotent installer with symlink-or-copy fallback (Git Bash).</a:t>
            </a:r>
          </a:p>
          <a:p>
            <a:pPr algn="l">
              <a:lnSpc>
                <a:spcPct val="140000"/>
              </a:lnSpc>
            </a:pPr>
            <a:r>
              <a:rPr sz="1300" b="1">
                <a:solidFill>
                  <a:srgbClr val="22D3EE"/>
                </a:solidFill>
                <a:latin typeface="Helvetica Neue"/>
              </a:rPr>
              <a:t> ▸ </a:t>
            </a:r>
            <a:r>
              <a:rPr sz="1300">
                <a:solidFill>
                  <a:srgbClr val="B8B8C8"/>
                </a:solidFill>
                <a:latin typeface="Helvetica Neue"/>
              </a:rPr>
              <a:t>Per-skill SKILL.md verification echo ("valk: synced 12,893 bytes").</a:t>
            </a:r>
          </a:p>
          <a:p>
            <a:pPr algn="l">
              <a:lnSpc>
                <a:spcPct val="140000"/>
              </a:lnSpc>
            </a:pPr>
            <a:r>
              <a:rPr sz="1300" b="1">
                <a:solidFill>
                  <a:srgbClr val="22D3EE"/>
                </a:solidFill>
                <a:latin typeface="Helvetica Neue"/>
              </a:rPr>
              <a:t> ▸ </a:t>
            </a:r>
            <a:r>
              <a:rPr sz="1300">
                <a:solidFill>
                  <a:srgbClr val="B8B8C8"/>
                </a:solidFill>
                <a:latin typeface="Helvetica Neue"/>
              </a:rPr>
              <a:t>afk telemetry: per-iteration log + cost CSV under .claude/valk/.</a:t>
            </a:r>
          </a:p>
          <a:p>
            <a:pPr algn="l">
              <a:lnSpc>
                <a:spcPct val="140000"/>
              </a:lnSpc>
            </a:pPr>
            <a:r>
              <a:rPr sz="1300" b="1">
                <a:solidFill>
                  <a:srgbClr val="22D3EE"/>
                </a:solidFill>
                <a:latin typeface="Helvetica Neue"/>
              </a:rPr>
              <a:t> ▸ </a:t>
            </a:r>
            <a:r>
              <a:rPr sz="1300">
                <a:solidFill>
                  <a:srgbClr val="B8B8C8"/>
                </a:solidFill>
                <a:latin typeface="Helvetica Neue"/>
              </a:rPr>
              <a:t>Auto cost-mode selection (subscription vs API-billed).</a:t>
            </a:r>
          </a:p>
          <a:p>
            <a:pPr algn="l">
              <a:lnSpc>
                <a:spcPct val="140000"/>
              </a:lnSpc>
            </a:pPr>
            <a:r>
              <a:rPr sz="1300" b="1">
                <a:solidFill>
                  <a:srgbClr val="22D3EE"/>
                </a:solidFill>
                <a:latin typeface="Helvetica Neue"/>
              </a:rPr>
              <a:t> ▸ </a:t>
            </a:r>
            <a:r>
              <a:rPr sz="1300">
                <a:solidFill>
                  <a:srgbClr val="B8B8C8"/>
                </a:solidFill>
                <a:latin typeface="Helvetica Neue"/>
              </a:rPr>
              <a:t>Stage helper (stage.py) + statusline (statusline.py).</a:t>
            </a:r>
          </a:p>
          <a:p>
            <a:pPr algn="l">
              <a:lnSpc>
                <a:spcPct val="140000"/>
              </a:lnSpc>
            </a:pPr>
            <a:r>
              <a:rPr sz="1300" b="1">
                <a:solidFill>
                  <a:srgbClr val="22D3EE"/>
                </a:solidFill>
                <a:latin typeface="Helvetica Neue"/>
              </a:rPr>
              <a:t> ▸ </a:t>
            </a:r>
            <a:r>
              <a:rPr sz="1300">
                <a:solidFill>
                  <a:srgbClr val="B8B8C8"/>
                </a:solidFill>
                <a:latin typeface="Helvetica Neue"/>
              </a:rPr>
              <a:t>test/run-tests.sh: 16 tests; every Valkyrie addition has coverage.</a:t>
            </a:r>
          </a:p>
          <a:p>
            <a:pPr algn="l">
              <a:lnSpc>
                <a:spcPct val="140000"/>
              </a:lnSpc>
            </a:pPr>
            <a:r>
              <a:rPr sz="1300" b="1">
                <a:solidFill>
                  <a:srgbClr val="22D3EE"/>
                </a:solidFill>
                <a:latin typeface="Helvetica Neue"/>
              </a:rPr>
              <a:t> ▸ </a:t>
            </a:r>
            <a:r>
              <a:rPr sz="1300">
                <a:solidFill>
                  <a:srgbClr val="B8B8C8"/>
                </a:solidFill>
                <a:latin typeface="Helvetica Neue"/>
              </a:rPr>
              <a:t>Handoff routing rule (mid-Valkyrie /handoff must say "Run /valk first").</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pPr algn="l"/>
            <a:r>
              <a:rPr sz="1000" b="0" i="1">
                <a:solidFill>
                  <a:srgbClr val="6A6A80"/>
                </a:solidFill>
                <a:latin typeface="Helvetica Neue"/>
              </a:rPr>
              <a:t>All of this in github.com/BunnyDAO/Valkyrie — docs/ has the SOP + workflow walkthroughs.</a:t>
            </a:r>
          </a:p>
        </p:txBody>
      </p:sp>
      <p:sp>
        <p:nvSpPr>
          <p:cNvPr id="8" name="TextBox 7"/>
          <p:cNvSpPr txBox="1"/>
          <p:nvPr/>
        </p:nvSpPr>
        <p:spPr>
          <a:xfrm>
            <a:off x="10972800" y="6446520"/>
            <a:ext cx="914400" cy="274320"/>
          </a:xfrm>
          <a:prstGeom prst="rect">
            <a:avLst/>
          </a:prstGeom>
          <a:noFill/>
        </p:spPr>
        <p:txBody>
          <a:bodyPr wrap="square" anchor="t" lIns="0" rIns="0" tIns="0" bIns="0">
            <a:spAutoFit/>
          </a:bodyPr>
          <a:lstStyle/>
          <a:p>
            <a:pPr algn="r"/>
            <a:r>
              <a:rPr sz="1000" b="0" i="0">
                <a:solidFill>
                  <a:srgbClr val="6A6A80"/>
                </a:solidFill>
                <a:latin typeface="Helvetica Neue"/>
              </a:rPr>
              <a:t>27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12"/>
        </a:solidFill>
        <a:effectLst/>
      </p:bgPr>
    </p:bg>
    <p:spTree>
      <p:nvGrpSpPr>
        <p:cNvPr id="1" name=""/>
        <p:cNvGrpSpPr/>
        <p:nvPr/>
      </p:nvGrpSpPr>
      <p:grpSpPr/>
      <p:sp>
        <p:nvSpPr>
          <p:cNvPr id="2" name="TextBox 1"/>
          <p:cNvSpPr txBox="1"/>
          <p:nvPr/>
        </p:nvSpPr>
        <p:spPr>
          <a:xfrm>
            <a:off x="548640" y="2560320"/>
            <a:ext cx="10972800" cy="1097280"/>
          </a:xfrm>
          <a:prstGeom prst="rect">
            <a:avLst/>
          </a:prstGeom>
          <a:noFill/>
        </p:spPr>
        <p:txBody>
          <a:bodyPr wrap="square" anchor="t" lIns="0" rIns="0" tIns="0" bIns="0">
            <a:spAutoFit/>
          </a:bodyPr>
          <a:lstStyle/>
          <a:p>
            <a:pPr algn="ctr"/>
            <a:r>
              <a:rPr sz="7200" b="1" i="0">
                <a:solidFill>
                  <a:srgbClr val="22D3EE"/>
                </a:solidFill>
                <a:latin typeface="Helvetica Neue"/>
              </a:rPr>
              <a:t>Q &amp; A</a:t>
            </a:r>
          </a:p>
        </p:txBody>
      </p:sp>
      <p:sp>
        <p:nvSpPr>
          <p:cNvPr id="3" name="TextBox 2"/>
          <p:cNvSpPr txBox="1"/>
          <p:nvPr/>
        </p:nvSpPr>
        <p:spPr>
          <a:xfrm>
            <a:off x="548640" y="3840480"/>
            <a:ext cx="10972800" cy="640080"/>
          </a:xfrm>
          <a:prstGeom prst="rect">
            <a:avLst/>
          </a:prstGeom>
          <a:noFill/>
        </p:spPr>
        <p:txBody>
          <a:bodyPr wrap="square" anchor="t" lIns="0" rIns="0" tIns="0" bIns="0">
            <a:spAutoFit/>
          </a:bodyPr>
          <a:lstStyle/>
          <a:p>
            <a:pPr algn="ctr"/>
            <a:r>
              <a:rPr sz="2200" b="0" i="0">
                <a:solidFill>
                  <a:srgbClr val="FFFFFF"/>
                </a:solidFill>
                <a:latin typeface="Helvetica Neue"/>
              </a:rPr>
              <a:t>github.com/BunnyDAO/Valkyrie</a:t>
            </a:r>
          </a:p>
        </p:txBody>
      </p:sp>
      <p:sp>
        <p:nvSpPr>
          <p:cNvPr id="4" name="TextBox 3"/>
          <p:cNvSpPr txBox="1"/>
          <p:nvPr/>
        </p:nvSpPr>
        <p:spPr>
          <a:xfrm>
            <a:off x="548640" y="4526280"/>
            <a:ext cx="10972800" cy="457200"/>
          </a:xfrm>
          <a:prstGeom prst="rect">
            <a:avLst/>
          </a:prstGeom>
          <a:noFill/>
        </p:spPr>
        <p:txBody>
          <a:bodyPr wrap="square" anchor="t" lIns="0" rIns="0" tIns="0" bIns="0">
            <a:spAutoFit/>
          </a:bodyPr>
          <a:lstStyle/>
          <a:p>
            <a:pPr algn="ctr"/>
            <a:r>
              <a:rPr sz="1400" b="0" i="1">
                <a:solidFill>
                  <a:srgbClr val="B8B8C8"/>
                </a:solidFill>
                <a:latin typeface="Helvetica Neue"/>
              </a:rPr>
              <a:t>skills · scripts · hooks · docs · SOP</a:t>
            </a:r>
          </a:p>
        </p:txBody>
      </p:sp>
      <p:sp>
        <p:nvSpPr>
          <p:cNvPr id="5" name="Rectangle 4"/>
          <p:cNvSpPr/>
          <p:nvPr/>
        </p:nvSpPr>
        <p:spPr>
          <a:xfrm>
            <a:off x="5486400" y="5303520"/>
            <a:ext cx="1188720"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